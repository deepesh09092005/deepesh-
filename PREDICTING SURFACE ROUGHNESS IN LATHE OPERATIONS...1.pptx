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3"/>
  </p:notesMasterIdLst>
  <p:handoutMasterIdLst>
    <p:handoutMasterId r:id="rId14"/>
  </p:handoutMasterIdLst>
  <p:sldIdLst>
    <p:sldId id="256" r:id="rId5"/>
    <p:sldId id="295" r:id="rId6"/>
    <p:sldId id="275" r:id="rId7"/>
    <p:sldId id="298" r:id="rId8"/>
    <p:sldId id="276" r:id="rId9"/>
    <p:sldId id="264" r:id="rId10"/>
    <p:sldId id="299" r:id="rId11"/>
    <p:sldId id="30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09" autoAdjust="0"/>
  </p:normalViewPr>
  <p:slideViewPr>
    <p:cSldViewPr snapToGrid="0">
      <p:cViewPr varScale="1">
        <p:scale>
          <a:sx n="78" d="100"/>
          <a:sy n="78" d="100"/>
        </p:scale>
        <p:origin x="869" y="62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4/29/2025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4/29/2025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756781-A599-0594-4502-A54BC85E87F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10515599" cy="369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67841" y="902752"/>
            <a:ext cx="4947179" cy="3384113"/>
          </a:xfrm>
        </p:spPr>
        <p:txBody>
          <a:bodyPr/>
          <a:lstStyle/>
          <a:p>
            <a:r>
              <a:rPr lang="en-US" dirty="0"/>
              <a:t>PREDICTING SURFACE ROUGHNESS IN LATHE OPERATIONS</a:t>
            </a:r>
            <a:br>
              <a:rPr lang="en-US" dirty="0"/>
            </a:br>
            <a:r>
              <a:rPr lang="en-US" dirty="0"/>
              <a:t>(Regression)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17626" y="4286865"/>
            <a:ext cx="2497394" cy="2841524"/>
          </a:xfrm>
        </p:spPr>
        <p:txBody>
          <a:bodyPr>
            <a:normAutofit/>
          </a:bodyPr>
          <a:lstStyle/>
          <a:p>
            <a:r>
              <a:rPr lang="en-US" dirty="0"/>
              <a:t>TEAM 9</a:t>
            </a:r>
          </a:p>
          <a:p>
            <a:r>
              <a:rPr lang="en-US" dirty="0"/>
              <a:t>Afrin . A</a:t>
            </a:r>
          </a:p>
          <a:p>
            <a:r>
              <a:rPr lang="en-US" dirty="0" err="1"/>
              <a:t>Nekha</a:t>
            </a:r>
            <a:r>
              <a:rPr lang="en-US" dirty="0"/>
              <a:t> . S</a:t>
            </a:r>
          </a:p>
          <a:p>
            <a:r>
              <a:rPr lang="en-US" dirty="0"/>
              <a:t>Yogeshwari . A</a:t>
            </a:r>
          </a:p>
          <a:p>
            <a:r>
              <a:rPr lang="en-US" dirty="0"/>
              <a:t>Anusuya . N</a:t>
            </a:r>
          </a:p>
          <a:p>
            <a:r>
              <a:rPr lang="en-US" dirty="0"/>
              <a:t>Deepesh </a:t>
            </a:r>
            <a:r>
              <a:rPr lang="en-US" dirty="0" err="1"/>
              <a:t>kumar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4EFB2-1E0C-5E74-98AC-06B9107881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68645" y="309816"/>
            <a:ext cx="7100365" cy="1715531"/>
          </a:xfrm>
        </p:spPr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C00694-47FF-FA7E-235D-1247D59F86FB}"/>
              </a:ext>
            </a:extLst>
          </p:cNvPr>
          <p:cNvSpPr txBox="1"/>
          <p:nvPr/>
        </p:nvSpPr>
        <p:spPr>
          <a:xfrm>
            <a:off x="6371303" y="2428568"/>
            <a:ext cx="539791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The objective is to develop a predictive model that estimates </a:t>
            </a:r>
            <a:r>
              <a:rPr lang="en-US" b="1"/>
              <a:t>surface roughness</a:t>
            </a:r>
            <a:r>
              <a:rPr lang="en-US"/>
              <a:t> in metal cutting operations based on cutting parameters, tool/workpiece materials, machining time, and operational settings. Accurate prediction of surface roughness helps improve product quality, reduce rework, and optimize machining conditions for better efficiency and tool life.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4371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FA191-5CCC-43CB-BD83-4F80ED362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75" y="-138779"/>
            <a:ext cx="5111750" cy="1204912"/>
          </a:xfrm>
        </p:spPr>
        <p:txBody>
          <a:bodyPr/>
          <a:lstStyle/>
          <a:p>
            <a:r>
              <a:rPr lang="en-US" dirty="0"/>
              <a:t>Dataset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BBEAF-B516-45F4-9EF6-A9F6511158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06298" y="5033451"/>
            <a:ext cx="6990735" cy="1204912"/>
          </a:xfrm>
        </p:spPr>
        <p:txBody>
          <a:bodyPr vert="horz" lIns="91440" tIns="45720" rIns="91440" bIns="45720" rtlCol="0" anchor="b">
            <a:normAutofit fontScale="2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6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Cutting speed</a:t>
            </a:r>
            <a:r>
              <a:rPr kumimoji="0" lang="en-US" altLang="en-US" sz="6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Speed at which the tool engages with the workpiece, measured in m/min.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6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6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Feed rate</a:t>
            </a:r>
            <a:r>
              <a:rPr kumimoji="0" lang="en-US" altLang="en-US" sz="6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Distance the tool advances per revolution, in mm/rev.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6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6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Tool nose radius</a:t>
            </a:r>
            <a:r>
              <a:rPr kumimoji="0" lang="en-US" altLang="en-US" sz="6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Radius at the tip of the cutting tool, affecting surface finish.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6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6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Depth of cut</a:t>
            </a:r>
            <a:r>
              <a:rPr kumimoji="0" lang="en-US" altLang="en-US" sz="6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Thickness of material removed in one pass, in mm.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6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6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Tool material</a:t>
            </a:r>
            <a:r>
              <a:rPr kumimoji="0" lang="en-US" altLang="en-US" sz="6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Type of cutting tool used (e.g., HSS, Carbide, Ceramic).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6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6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Workpiece material</a:t>
            </a:r>
            <a:r>
              <a:rPr kumimoji="0" lang="en-US" altLang="en-US" sz="6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Material being machined (e.g., Steel, Brass).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6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6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Machining time</a:t>
            </a:r>
            <a:r>
              <a:rPr kumimoji="0" lang="en-US" altLang="en-US" sz="6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Duration of the machining operation, in seconds or minutes.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6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6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Spindle speed</a:t>
            </a:r>
            <a:r>
              <a:rPr kumimoji="0" lang="en-US" altLang="en-US" sz="6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Rotational speed of the spindle, in RPM.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6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6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Coolant use</a:t>
            </a:r>
            <a:r>
              <a:rPr kumimoji="0" lang="en-US" altLang="en-US" sz="6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Indicates whether coolant was used (1 = Yes, 0 = No).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6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6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Operator ID</a:t>
            </a:r>
            <a:r>
              <a:rPr kumimoji="0" lang="en-US" altLang="en-US" sz="6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Identifier for the operator performing the machining.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F8C8B5-F6EC-489B-BD0F-CD89A73CAB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AEA823-8519-4F9D-81FA-367313107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FF51B-0E28-4171-AE7C-A31AAB42B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0173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2A958-2310-7841-1B04-37AD7971B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B0375-190E-B40A-5E92-55C092C88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3714" y="136525"/>
            <a:ext cx="5111750" cy="1204912"/>
          </a:xfrm>
        </p:spPr>
        <p:txBody>
          <a:bodyPr>
            <a:normAutofit/>
          </a:bodyPr>
          <a:lstStyle/>
          <a:p>
            <a:r>
              <a:rPr lang="en-US" sz="3200" dirty="0"/>
              <a:t>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5F7FD4-F2F4-0771-CEB7-736FB3FA75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81369" y="1730478"/>
            <a:ext cx="6990735" cy="3160866"/>
          </a:xfrm>
        </p:spPr>
        <p:txBody>
          <a:bodyPr vert="horz" lIns="91440" tIns="45720" rIns="91440" bIns="45720" rtlCol="0" anchor="b">
            <a:normAutofit fontScale="32500" lnSpcReduction="20000"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9600" dirty="0"/>
              <a:t>Linear regression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9600" dirty="0"/>
              <a:t> Polynomial regression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9600" dirty="0"/>
              <a:t> Ridge regression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9600" dirty="0"/>
              <a:t> Lasso regression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9600" dirty="0"/>
              <a:t> </a:t>
            </a:r>
            <a:r>
              <a:rPr lang="en-IN" sz="9600" dirty="0" err="1"/>
              <a:t>Elasticnet</a:t>
            </a:r>
            <a:r>
              <a:rPr lang="en-IN" sz="9600" dirty="0"/>
              <a:t> regression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9600" dirty="0"/>
              <a:t> SVM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953F7E-51B0-C217-A75F-B9E437DD2E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D7AFAB-7936-74F1-59A7-72D67309A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136E5D-4C84-2737-75AF-7AAAE5E26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3854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56154" y="815663"/>
            <a:ext cx="8799871" cy="1524735"/>
          </a:xfrm>
        </p:spPr>
        <p:txBody>
          <a:bodyPr/>
          <a:lstStyle/>
          <a:p>
            <a:r>
              <a:rPr lang="en-US" dirty="0"/>
              <a:t>Best Performing Regression Algorithm for Surface Roughness Prediction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A7980-C870-4C9A-84FA-4120D8AF5D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FADE42-1A3F-40C8-A071-E57644F3D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CFF82-B70F-4971-9182-7C3AEA3CF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BE681BA3-3A81-88CB-7D11-6E1169F56D7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524864" y="2817275"/>
            <a:ext cx="8571269" cy="1846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800" b="1" dirty="0">
                <a:latin typeface="+mj-lt"/>
              </a:rPr>
              <a:t>Polynomial regression gives the best score </a:t>
            </a:r>
            <a:r>
              <a:rPr lang="en-US" sz="1800" dirty="0"/>
              <a:t>because it can model curved relationships between input features and the target variable, unlike linear regression which only fits a straight line. If the data has a non-linear pattern, polynomial regression captures it better, resulting in higher accuracy (R² score). This makes it more effective when the relationship isn't purely lin</a:t>
            </a:r>
            <a:r>
              <a:rPr lang="en-US" sz="2400" dirty="0"/>
              <a:t>ear</a:t>
            </a:r>
            <a:endParaRPr lang="en-IN" sz="2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487" y="1455329"/>
            <a:ext cx="7408299" cy="120491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Benefits of Using Polynomial Regression for Surface Roughness Prediction</a:t>
            </a:r>
            <a:br>
              <a:rPr lang="en-US" b="1" dirty="0"/>
            </a:b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ACA2A-6BBE-47CF-B76F-F56C9DBF77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A095E-DB05-47EC-A2D5-47398A4A0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3C3221-5F04-4CA7-A86A-EEA8566A1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0D6F55A8-26FD-52F6-9909-B93081BC9A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158181" y="2965787"/>
            <a:ext cx="7408298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obe Hebrew" panose="02040503050201020203" pitchFamily="18" charset="-79"/>
                <a:cs typeface="Adobe Hebrew" panose="02040503050201020203" pitchFamily="18" charset="-79"/>
              </a:rPr>
              <a:t>Captures nonlinear effects of cutting parameters on surface roughness.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obe Hebrew" panose="02040503050201020203" pitchFamily="18" charset="-79"/>
                <a:cs typeface="Adobe Hebrew" panose="02040503050201020203" pitchFamily="18" charset="-79"/>
              </a:rPr>
              <a:t>Gives better accuracy than linear models.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obe Hebrew" panose="02040503050201020203" pitchFamily="18" charset="-79"/>
                <a:cs typeface="Adobe Hebrew" panose="02040503050201020203" pitchFamily="18" charset="-79"/>
              </a:rPr>
              <a:t>Simple to implement and easy to understand.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obe Hebrew" panose="02040503050201020203" pitchFamily="18" charset="-79"/>
                <a:cs typeface="Adobe Hebrew" panose="02040503050201020203" pitchFamily="18" charset="-79"/>
              </a:rPr>
              <a:t>Works well even with small datasets.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obe Hebrew" panose="02040503050201020203" pitchFamily="18" charset="-79"/>
                <a:cs typeface="Adobe Hebrew" panose="02040503050201020203" pitchFamily="18" charset="-79"/>
              </a:rPr>
              <a:t>Fast and suitable for real-time machining systems.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obe Hebrew" panose="02040503050201020203" pitchFamily="18" charset="-79"/>
                <a:cs typeface="Adobe Hebrew" panose="02040503050201020203" pitchFamily="18" charset="-79"/>
              </a:rPr>
              <a:t>Models interactions like speed × feed effectively.</a:t>
            </a:r>
          </a:p>
        </p:txBody>
      </p:sp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73593-2869-29C4-0815-975262621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F365F-24F1-A464-C4E6-A1715A072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2707" y="265472"/>
            <a:ext cx="5111750" cy="1204912"/>
          </a:xfrm>
        </p:spPr>
        <p:txBody>
          <a:bodyPr>
            <a:normAutofit/>
          </a:bodyPr>
          <a:lstStyle/>
          <a:p>
            <a:r>
              <a:rPr lang="en-US" sz="3200" dirty="0"/>
              <a:t>Q &amp; 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E8C9E-2209-FACC-2EFF-E2D0F131B1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85968" y="-107693"/>
            <a:ext cx="7334864" cy="315615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1800" b="1" dirty="0"/>
              <a:t>What is surface roughness and why is it important?</a:t>
            </a:r>
            <a:br>
              <a:rPr lang="en-US" sz="1800" dirty="0"/>
            </a:br>
            <a:r>
              <a:rPr lang="en-US" sz="1800" b="1" dirty="0"/>
              <a:t>A:</a:t>
            </a:r>
            <a:r>
              <a:rPr lang="en-US" sz="1800" dirty="0"/>
              <a:t> Surface roughness refers to the texture of a machined surface. It affects product quality, performance, and wear resistance in industrial parts.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6C4114-EFD8-DAC2-BCFF-95E1987162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FA8848-AF37-B47C-1525-5204F416A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D475D5-71CF-8D27-9CA7-EB453698E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62053A-A0E1-E686-2E27-D3EC7250D8CC}"/>
              </a:ext>
            </a:extLst>
          </p:cNvPr>
          <p:cNvSpPr txBox="1"/>
          <p:nvPr/>
        </p:nvSpPr>
        <p:spPr>
          <a:xfrm>
            <a:off x="4623619" y="3737118"/>
            <a:ext cx="705956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What made polynomial regression a suitable choice for predicting surface roughness?</a:t>
            </a:r>
            <a:br>
              <a:rPr lang="en-US" dirty="0"/>
            </a:br>
            <a:r>
              <a:rPr lang="en-US" b="1" dirty="0"/>
              <a:t>    </a:t>
            </a:r>
            <a:r>
              <a:rPr lang="en-US" dirty="0"/>
              <a:t> Polynomial regression was ideal because it can model the </a:t>
            </a:r>
            <a:r>
              <a:rPr lang="en-US" b="1" dirty="0"/>
              <a:t>nonlinear relationship</a:t>
            </a:r>
            <a:r>
              <a:rPr lang="en-US" dirty="0"/>
              <a:t> between machining parameters (like speed and feed) and surface roughness, offering better accuracy than simple linear models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95152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9B30B-9B84-9FE6-008A-6CF75983A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707" y="2301234"/>
            <a:ext cx="5111750" cy="1204912"/>
          </a:xfrm>
        </p:spPr>
        <p:txBody>
          <a:bodyPr/>
          <a:lstStyle/>
          <a:p>
            <a:r>
              <a:rPr lang="en-IN" dirty="0"/>
              <a:t>THANK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FAD3F0-32AF-8FCF-C37A-E28E7E2BF8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42050" y="2992180"/>
            <a:ext cx="5111750" cy="1525588"/>
          </a:xfrm>
        </p:spPr>
        <p:txBody>
          <a:bodyPr>
            <a:normAutofit/>
          </a:bodyPr>
          <a:lstStyle/>
          <a:p>
            <a:r>
              <a:rPr lang="en-IN" sz="2800" dirty="0"/>
              <a:t>YOU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3B9153-83C0-2A60-E4C1-473B0534B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E74951-E530-2EC1-F9F1-5702A629B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68BC44-675A-8747-40E2-C49166D31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9089247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ne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180624 Minimalist light sales pitch_Win32_v3" id="{10980D2D-A96C-4E9B-A00E-81C4CAF0ABBD}" vid="{7928933E-F394-4192-9CD9-6D2A259AB57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EFFFA3F-0FB5-4ED3-8906-A15B16577F4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6966C46A-DC57-4209-80CD-9FE6C93151F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E18436D-DA32-4E27-AC64-8FFEDA5218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135</TotalTime>
  <Words>499</Words>
  <Application>Microsoft Office PowerPoint</Application>
  <PresentationFormat>Widescreen</PresentationFormat>
  <Paragraphs>68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Adobe Hebrew</vt:lpstr>
      <vt:lpstr>Arial</vt:lpstr>
      <vt:lpstr>Calibri</vt:lpstr>
      <vt:lpstr>Tenorite</vt:lpstr>
      <vt:lpstr>Wingdings</vt:lpstr>
      <vt:lpstr>Monoline</vt:lpstr>
      <vt:lpstr>PREDICTING SURFACE ROUGHNESS IN LATHE OPERATIONS (Regression)</vt:lpstr>
      <vt:lpstr>Problem statement</vt:lpstr>
      <vt:lpstr>Dataset features</vt:lpstr>
      <vt:lpstr>algorithms</vt:lpstr>
      <vt:lpstr>Best Performing Regression Algorithm for Surface Roughness Prediction</vt:lpstr>
      <vt:lpstr>Benefits of Using Polynomial Regression for Surface Roughness Prediction </vt:lpstr>
      <vt:lpstr>Q &amp; A</vt:lpstr>
      <vt:lpstr>THANK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Vishnupriya M</dc:creator>
  <cp:lastModifiedBy>Vishnupriya M</cp:lastModifiedBy>
  <cp:revision>2</cp:revision>
  <dcterms:created xsi:type="dcterms:W3CDTF">2025-04-29T17:10:39Z</dcterms:created>
  <dcterms:modified xsi:type="dcterms:W3CDTF">2025-04-29T19:25:50Z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