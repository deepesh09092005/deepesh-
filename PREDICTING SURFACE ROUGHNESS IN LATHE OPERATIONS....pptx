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6"/>
  </p:notesMasterIdLst>
  <p:handoutMasterIdLst>
    <p:handoutMasterId r:id="rId27"/>
  </p:handoutMasterIdLst>
  <p:sldIdLst>
    <p:sldId id="256" r:id="rId5"/>
    <p:sldId id="295" r:id="rId6"/>
    <p:sldId id="275" r:id="rId7"/>
    <p:sldId id="298" r:id="rId8"/>
    <p:sldId id="276" r:id="rId9"/>
    <p:sldId id="289" r:id="rId10"/>
    <p:sldId id="296" r:id="rId11"/>
    <p:sldId id="264" r:id="rId12"/>
    <p:sldId id="258" r:id="rId13"/>
    <p:sldId id="278" r:id="rId14"/>
    <p:sldId id="266" r:id="rId15"/>
    <p:sldId id="292" r:id="rId16"/>
    <p:sldId id="268" r:id="rId17"/>
    <p:sldId id="280" r:id="rId18"/>
    <p:sldId id="270" r:id="rId19"/>
    <p:sldId id="293" r:id="rId20"/>
    <p:sldId id="294" r:id="rId21"/>
    <p:sldId id="260" r:id="rId22"/>
    <p:sldId id="282" r:id="rId23"/>
    <p:sldId id="283" r:id="rId24"/>
    <p:sldId id="29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09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20XX</c:v>
                </c:pt>
                <c:pt idx="1">
                  <c:v>20XX</c:v>
                </c:pt>
                <c:pt idx="2">
                  <c:v>20XX</c:v>
                </c:pt>
                <c:pt idx="3">
                  <c:v>20XX</c:v>
                </c:pt>
              </c:strCache>
            </c:strRef>
          </c:cat>
          <c:val>
            <c:numRef>
              <c:f>Sheet1!$B$2:$B$5</c:f>
              <c:numCache>
                <c:formatCode>[$$-409]#,##0</c:formatCode>
                <c:ptCount val="4"/>
                <c:pt idx="0">
                  <c:v>10000</c:v>
                </c:pt>
                <c:pt idx="1">
                  <c:v>20000</c:v>
                </c:pt>
                <c:pt idx="2">
                  <c:v>30000</c:v>
                </c:pt>
                <c:pt idx="3">
                  <c:v>40000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80-4025-ABCB-85931C353E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8"/>
        <c:overlap val="-3"/>
        <c:axId val="694597680"/>
        <c:axId val="694598992"/>
      </c:barChart>
      <c:catAx>
        <c:axId val="6945976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4598992"/>
        <c:crosses val="autoZero"/>
        <c:auto val="1"/>
        <c:lblAlgn val="ctr"/>
        <c:lblOffset val="100"/>
        <c:noMultiLvlLbl val="0"/>
      </c:catAx>
      <c:valAx>
        <c:axId val="694598992"/>
        <c:scaling>
          <c:orientation val="minMax"/>
          <c:max val="40000"/>
        </c:scaling>
        <c:delete val="0"/>
        <c:axPos val="l"/>
        <c:majorGridlines>
          <c:spPr>
            <a:ln w="9525" cap="flat" cmpd="sng" algn="ctr">
              <a:solidFill>
                <a:schemeClr val="accent1">
                  <a:lumMod val="75000"/>
                </a:schemeClr>
              </a:solidFill>
              <a:round/>
            </a:ln>
            <a:effectLst/>
          </c:spPr>
        </c:majorGridlines>
        <c:numFmt formatCode="[$$-409]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4597680"/>
        <c:crosses val="autoZero"/>
        <c:crossBetween val="between"/>
        <c:majorUnit val="1000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053-449F-8EEE-DAFE02C9D55A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053-449F-8EEE-DAFE02C9D55A}"/>
              </c:ext>
            </c:extLst>
          </c:dPt>
          <c:dPt>
            <c:idx val="2"/>
            <c:bubble3D val="0"/>
            <c:spPr>
              <a:solidFill>
                <a:schemeClr val="accent1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053-449F-8EEE-DAFE02C9D55A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053-449F-8EEE-DAFE02C9D55A}"/>
              </c:ext>
            </c:extLst>
          </c:dPt>
          <c:cat>
            <c:strRef>
              <c:f>Sheet1!$A$2:$A$5</c:f>
              <c:strCache>
                <c:ptCount val="4"/>
                <c:pt idx="0">
                  <c:v>Part 1</c:v>
                </c:pt>
                <c:pt idx="1">
                  <c:v>Part 2</c:v>
                </c:pt>
                <c:pt idx="2">
                  <c:v>Part 3</c:v>
                </c:pt>
                <c:pt idx="3">
                  <c:v>Part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82000</c:v>
                </c:pt>
                <c:pt idx="1">
                  <c:v>32000</c:v>
                </c:pt>
                <c:pt idx="2">
                  <c:v>14000</c:v>
                </c:pt>
                <c:pt idx="3">
                  <c:v>12000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053-449F-8EEE-DAFE02C9D5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16"/>
        <c:holeSize val="8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8FD-4EB0-96B7-77E7434B1C75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8FD-4EB0-96B7-77E7434B1C75}"/>
              </c:ext>
            </c:extLst>
          </c:dPt>
          <c:dPt>
            <c:idx val="2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8FD-4EB0-96B7-77E7434B1C75}"/>
              </c:ext>
            </c:extLst>
          </c:dPt>
          <c:dPt>
            <c:idx val="3"/>
            <c:bubble3D val="0"/>
            <c:spPr>
              <a:solidFill>
                <a:schemeClr val="accent1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68FD-4EB0-96B7-77E7434B1C75}"/>
              </c:ext>
            </c:extLst>
          </c:dPt>
          <c:cat>
            <c:strRef>
              <c:f>Sheet1!$A$2:$A$5</c:f>
              <c:strCache>
                <c:ptCount val="4"/>
                <c:pt idx="0">
                  <c:v>Part 1</c:v>
                </c:pt>
                <c:pt idx="1">
                  <c:v>Part 2</c:v>
                </c:pt>
                <c:pt idx="2">
                  <c:v>Part 3</c:v>
                </c:pt>
                <c:pt idx="3">
                  <c:v>Part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82000</c:v>
                </c:pt>
                <c:pt idx="1">
                  <c:v>32000</c:v>
                </c:pt>
                <c:pt idx="2">
                  <c:v>14000</c:v>
                </c:pt>
                <c:pt idx="3">
                  <c:v>12000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8FD-4EB0-96B7-77E7434B1C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16"/>
        <c:holeSize val="8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8DE-4407-9084-86239413ECEC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8DE-4407-9084-86239413ECEC}"/>
              </c:ext>
            </c:extLst>
          </c:dPt>
          <c:dPt>
            <c:idx val="2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8DE-4407-9084-86239413ECEC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8DE-4407-9084-86239413ECEC}"/>
              </c:ext>
            </c:extLst>
          </c:dPt>
          <c:cat>
            <c:strRef>
              <c:f>Sheet1!$A$2:$A$5</c:f>
              <c:strCache>
                <c:ptCount val="4"/>
                <c:pt idx="0">
                  <c:v>Part 1</c:v>
                </c:pt>
                <c:pt idx="1">
                  <c:v>Part 2</c:v>
                </c:pt>
                <c:pt idx="2">
                  <c:v>Part 3</c:v>
                </c:pt>
                <c:pt idx="3">
                  <c:v>Part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82000</c:v>
                </c:pt>
                <c:pt idx="1">
                  <c:v>32000</c:v>
                </c:pt>
                <c:pt idx="2">
                  <c:v>14000</c:v>
                </c:pt>
                <c:pt idx="3">
                  <c:v>12000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8DE-4407-9084-86239413EC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16"/>
        <c:holeSize val="8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D2F-44F6-B0B4-AE7D2AD35A4D}"/>
              </c:ext>
            </c:extLst>
          </c:dPt>
          <c:dPt>
            <c:idx val="1"/>
            <c:bubble3D val="0"/>
            <c:spPr>
              <a:solidFill>
                <a:schemeClr val="accent1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D2F-44F6-B0B4-AE7D2AD35A4D}"/>
              </c:ext>
            </c:extLst>
          </c:dPt>
          <c:dPt>
            <c:idx val="2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D2F-44F6-B0B4-AE7D2AD35A4D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7D2F-44F6-B0B4-AE7D2AD35A4D}"/>
              </c:ext>
            </c:extLst>
          </c:dPt>
          <c:cat>
            <c:strRef>
              <c:f>Sheet1!$A$2:$A$5</c:f>
              <c:strCache>
                <c:ptCount val="4"/>
                <c:pt idx="0">
                  <c:v>Part 1</c:v>
                </c:pt>
                <c:pt idx="1">
                  <c:v>Part 2</c:v>
                </c:pt>
                <c:pt idx="2">
                  <c:v>Part 3</c:v>
                </c:pt>
                <c:pt idx="3">
                  <c:v>Part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82000</c:v>
                </c:pt>
                <c:pt idx="1">
                  <c:v>32000</c:v>
                </c:pt>
                <c:pt idx="2">
                  <c:v>14000</c:v>
                </c:pt>
                <c:pt idx="3">
                  <c:v>12000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D2F-44F6-B0B4-AE7D2AD35A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16"/>
        <c:holeSize val="8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4/29/2025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4/29/2025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adr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>
            <a:extLst>
              <a:ext uri="{FF2B5EF4-FFF2-40B4-BE49-F238E27FC236}">
                <a16:creationId xmlns:a16="http://schemas.microsoft.com/office/drawing/2014/main" id="{B495A4C6-232E-4A1A-B575-7EF7F414FD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>
            <a:lvl1pPr algn="l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B4C6F7E-40F0-42B1-AFE0-D3C95660E0D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42517" y="1599947"/>
            <a:ext cx="1706965" cy="49202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42EE46E3-709F-4AE9-AECE-FD647B6DCFD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38732" y="2378452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3194FB4F-01AC-4A0E-BBE2-CF2B69F6FAC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22269" y="2169263"/>
            <a:ext cx="1706965" cy="10485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8E76F955-6B23-4972-8E86-603F19ECF6C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1894" y="3528829"/>
            <a:ext cx="1393863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DDA77547-4FF4-4B15-96F1-DC9B00175B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40449" y="3528829"/>
            <a:ext cx="1380681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6E6B6915-DFCC-44EB-9C61-6B7725D1B7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37747" y="4634331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6718CC56-7B04-41D0-A320-CCCDC20D761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75224" y="4459860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778E1C09-B7DB-4CE7-A5B9-90BCF54448B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52714" y="4321788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7CFA026C-42CE-4C20-9DDE-417FDF6CB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42517" y="5468790"/>
            <a:ext cx="1706965" cy="49202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0AFAA95F-1461-496C-BAB4-D5D0594554F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01857" y="5195673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D194B4E-75F4-47BE-B171-9C64697AB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7" idx="1"/>
          </p:cNvCxnSpPr>
          <p:nvPr userDrawn="1"/>
        </p:nvCxnSpPr>
        <p:spPr>
          <a:xfrm>
            <a:off x="2315757" y="3774842"/>
            <a:ext cx="7624692" cy="0"/>
          </a:xfrm>
          <a:prstGeom prst="line">
            <a:avLst/>
          </a:prstGeom>
          <a:ln w="444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EFDA35F-76DF-4FDC-90C9-F9FEDF322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091972"/>
            <a:ext cx="4678" cy="3376818"/>
          </a:xfrm>
          <a:prstGeom prst="line">
            <a:avLst/>
          </a:prstGeom>
          <a:ln w="444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Date Placeholder 2">
            <a:extLst>
              <a:ext uri="{FF2B5EF4-FFF2-40B4-BE49-F238E27FC236}">
                <a16:creationId xmlns:a16="http://schemas.microsoft.com/office/drawing/2014/main" id="{B8C04945-62C9-4964-8891-6D30EA90D2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32" name="Footer Placeholder 3">
            <a:extLst>
              <a:ext uri="{FF2B5EF4-FFF2-40B4-BE49-F238E27FC236}">
                <a16:creationId xmlns:a16="http://schemas.microsoft.com/office/drawing/2014/main" id="{51029B8B-F669-4889-98DD-901661178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33" name="Slide Number Placeholder 4">
            <a:extLst>
              <a:ext uri="{FF2B5EF4-FFF2-40B4-BE49-F238E27FC236}">
                <a16:creationId xmlns:a16="http://schemas.microsoft.com/office/drawing/2014/main" id="{7A0B84D6-438D-4B3B-B52C-6F5EC159B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2508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rt and tab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8749" y="1361938"/>
            <a:ext cx="6765925" cy="496888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38200" y="2286002"/>
            <a:ext cx="6094270" cy="3542143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58125" y="2284624"/>
            <a:ext cx="3147332" cy="306388"/>
          </a:xfrm>
        </p:spPr>
        <p:txBody>
          <a:bodyPr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858125" y="2779713"/>
            <a:ext cx="3148013" cy="3095625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0347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685" r:id="rId12"/>
    <p:sldLayoutId id="2147483700" r:id="rId13"/>
    <p:sldLayoutId id="2147483701" r:id="rId14"/>
    <p:sldLayoutId id="2147483692" r:id="rId15"/>
    <p:sldLayoutId id="2147483681" r:id="rId16"/>
    <p:sldLayoutId id="2147483674" r:id="rId17"/>
    <p:sldLayoutId id="2147483675" r:id="rId18"/>
    <p:sldLayoutId id="2147483696" r:id="rId19"/>
    <p:sldLayoutId id="2147483677" r:id="rId20"/>
    <p:sldLayoutId id="2147483678" r:id="rId2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jpg"/><Relationship Id="rId3" Type="http://schemas.openxmlformats.org/officeDocument/2006/relationships/image" Target="../media/image32.jpg"/><Relationship Id="rId7" Type="http://schemas.openxmlformats.org/officeDocument/2006/relationships/image" Target="../media/image36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5.jpg"/><Relationship Id="rId5" Type="http://schemas.openxmlformats.org/officeDocument/2006/relationships/image" Target="../media/image34.jpg"/><Relationship Id="rId4" Type="http://schemas.openxmlformats.org/officeDocument/2006/relationships/image" Target="../media/image33.jpg"/><Relationship Id="rId9" Type="http://schemas.openxmlformats.org/officeDocument/2006/relationships/image" Target="../media/image38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9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67841" y="902752"/>
            <a:ext cx="4947179" cy="3384113"/>
          </a:xfrm>
        </p:spPr>
        <p:txBody>
          <a:bodyPr/>
          <a:lstStyle/>
          <a:p>
            <a:r>
              <a:rPr lang="en-US" dirty="0"/>
              <a:t>PREDICTING SURFACE ROUGHNESS IN LATHE OPERATIONS</a:t>
            </a:r>
            <a:br>
              <a:rPr lang="en-US" dirty="0"/>
            </a:br>
            <a:r>
              <a:rPr lang="en-US" dirty="0"/>
              <a:t>(Regression)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17626" y="4286865"/>
            <a:ext cx="2497394" cy="2841524"/>
          </a:xfrm>
        </p:spPr>
        <p:txBody>
          <a:bodyPr>
            <a:normAutofit/>
          </a:bodyPr>
          <a:lstStyle/>
          <a:p>
            <a:r>
              <a:rPr lang="en-US" dirty="0"/>
              <a:t>TEAM 9</a:t>
            </a:r>
          </a:p>
          <a:p>
            <a:r>
              <a:rPr lang="en-US" dirty="0"/>
              <a:t>Afrin . A</a:t>
            </a:r>
          </a:p>
          <a:p>
            <a:r>
              <a:rPr lang="en-US" dirty="0" err="1"/>
              <a:t>Nekha</a:t>
            </a:r>
            <a:r>
              <a:rPr lang="en-US" dirty="0"/>
              <a:t> . S</a:t>
            </a:r>
          </a:p>
          <a:p>
            <a:r>
              <a:rPr lang="en-US" dirty="0"/>
              <a:t>Yogeshwari . A</a:t>
            </a:r>
          </a:p>
          <a:p>
            <a:r>
              <a:rPr lang="en-US" dirty="0"/>
              <a:t>Anusuya . N</a:t>
            </a:r>
          </a:p>
          <a:p>
            <a:r>
              <a:rPr lang="en-US" dirty="0"/>
              <a:t>Deepesh </a:t>
            </a:r>
            <a:r>
              <a:rPr lang="en-US" dirty="0" err="1"/>
              <a:t>kumar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4EFB2-1E0C-5E74-98AC-06B9107881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68645" y="309816"/>
            <a:ext cx="7100365" cy="1715531"/>
          </a:xfrm>
        </p:spPr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C00694-47FF-FA7E-235D-1247D59F86FB}"/>
              </a:ext>
            </a:extLst>
          </p:cNvPr>
          <p:cNvSpPr txBox="1"/>
          <p:nvPr/>
        </p:nvSpPr>
        <p:spPr>
          <a:xfrm>
            <a:off x="6371303" y="2428568"/>
            <a:ext cx="53979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The objective is to develop a predictive model that estimates </a:t>
            </a:r>
            <a:r>
              <a:rPr lang="en-US" b="1"/>
              <a:t>surface roughness</a:t>
            </a:r>
            <a:r>
              <a:rPr lang="en-US"/>
              <a:t> in metal cutting operations based on cutting parameters, tool/workpiece materials, machining time, and operational settings. Accurate prediction of surface roughness helps improve product quality, reduce rework, and optimize machining conditions for better efficiency and tool life.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4371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FA191-5CCC-43CB-BD83-4F80ED362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75" y="-138779"/>
            <a:ext cx="5111750" cy="1204912"/>
          </a:xfrm>
        </p:spPr>
        <p:txBody>
          <a:bodyPr/>
          <a:lstStyle/>
          <a:p>
            <a:r>
              <a:rPr lang="en-US" dirty="0"/>
              <a:t>Dataset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BBEAF-B516-45F4-9EF6-A9F651115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06298" y="5033451"/>
            <a:ext cx="6990735" cy="1204912"/>
          </a:xfrm>
        </p:spPr>
        <p:txBody>
          <a:bodyPr vert="horz" lIns="91440" tIns="45720" rIns="91440" bIns="45720" rtlCol="0" anchor="b"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Cutting speed</a:t>
            </a:r>
            <a:r>
              <a:rPr kumimoji="0" lang="en-US" altLang="en-US" sz="6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Speed at which the tool engages with the workpiece, measured in m/min.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6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Feed rate</a:t>
            </a:r>
            <a:r>
              <a:rPr kumimoji="0" lang="en-US" altLang="en-US" sz="6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Distance the tool advances per revolution, in mm/rev.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6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 nose radius</a:t>
            </a:r>
            <a:r>
              <a:rPr kumimoji="0" lang="en-US" altLang="en-US" sz="6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Radius at the tip of the cutting tool, affecting surface finish.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6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Depth of cut</a:t>
            </a:r>
            <a:r>
              <a:rPr kumimoji="0" lang="en-US" altLang="en-US" sz="6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Thickness of material removed in one pass, in mm.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6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 material</a:t>
            </a:r>
            <a:r>
              <a:rPr kumimoji="0" lang="en-US" altLang="en-US" sz="6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Type of cutting tool used (e.g., HSS, Carbide, Ceramic).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6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Workpiece material</a:t>
            </a:r>
            <a:r>
              <a:rPr kumimoji="0" lang="en-US" altLang="en-US" sz="6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Material being machined (e.g., Steel, Brass).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6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Machining time</a:t>
            </a:r>
            <a:r>
              <a:rPr kumimoji="0" lang="en-US" altLang="en-US" sz="6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Duration of the machining operation, in seconds or minutes.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6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Spindle speed</a:t>
            </a:r>
            <a:r>
              <a:rPr kumimoji="0" lang="en-US" altLang="en-US" sz="6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Rotational speed of the spindle, in RPM.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6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Coolant use</a:t>
            </a:r>
            <a:r>
              <a:rPr kumimoji="0" lang="en-US" altLang="en-US" sz="6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Indicates whether coolant was used (1 = Yes, 0 = No).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6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Operator ID</a:t>
            </a:r>
            <a:r>
              <a:rPr kumimoji="0" lang="en-US" altLang="en-US" sz="6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Identifier for the operator performing the machining.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8C8B5-F6EC-489B-BD0F-CD89A73CAB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EA823-8519-4F9D-81FA-367313107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FF51B-0E28-4171-AE7C-A31AAB42B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173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2A958-2310-7841-1B04-37AD7971B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B0375-190E-B40A-5E92-55C092C88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3714" y="136525"/>
            <a:ext cx="5111750" cy="1204912"/>
          </a:xfrm>
        </p:spPr>
        <p:txBody>
          <a:bodyPr>
            <a:normAutofit/>
          </a:bodyPr>
          <a:lstStyle/>
          <a:p>
            <a:r>
              <a:rPr lang="en-US" sz="3200" dirty="0"/>
              <a:t>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F7FD4-F2F4-0771-CEB7-736FB3FA7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81369" y="1730478"/>
            <a:ext cx="6990735" cy="3160866"/>
          </a:xfrm>
        </p:spPr>
        <p:txBody>
          <a:bodyPr vert="horz" lIns="91440" tIns="45720" rIns="91440" bIns="45720" rtlCol="0" anchor="b">
            <a:normAutofit fontScale="32500" lnSpcReduction="20000"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9600" dirty="0"/>
              <a:t>Linear regression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9600" dirty="0"/>
              <a:t> Polynomial regression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9600" dirty="0"/>
              <a:t> Ridge regression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9600" dirty="0"/>
              <a:t> Lasso regression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9600" dirty="0"/>
              <a:t> </a:t>
            </a:r>
            <a:r>
              <a:rPr lang="en-IN" sz="9600" dirty="0" err="1"/>
              <a:t>Elasticnet</a:t>
            </a:r>
            <a:r>
              <a:rPr lang="en-IN" sz="9600" dirty="0"/>
              <a:t> regression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9600" dirty="0"/>
              <a:t> SVM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53F7E-51B0-C217-A75F-B9E437DD2E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7AFAB-7936-74F1-59A7-72D67309A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36E5D-4C84-2737-75AF-7AAAE5E26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854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6491" y="-399877"/>
            <a:ext cx="4179570" cy="152473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A7980-C870-4C9A-84FA-4120D8AF5D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ADE42-1A3F-40C8-A071-E57644F3D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CFF82-B70F-4971-9182-7C3AEA3C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E681BA3-3A81-88CB-7D11-6E1169F56D7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524864" y="3555938"/>
            <a:ext cx="857126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760" y="4156405"/>
            <a:ext cx="3139440" cy="1325563"/>
          </a:xfrm>
        </p:spPr>
        <p:txBody>
          <a:bodyPr/>
          <a:lstStyle/>
          <a:p>
            <a:r>
              <a:rPr lang="en-US" dirty="0"/>
              <a:t>PRODUCT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2EB3F-4D60-451F-8F45-7D6654D2FC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254" y="1530635"/>
            <a:ext cx="5433204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UNIQUE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1C80FB-53F9-42EE-B1E6-D0F998EC5D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/>
          <a:p>
            <a:r>
              <a:rPr lang="en-US" dirty="0"/>
              <a:t>Only product specifically dedicated to this niche market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1BA2B5-6A90-4204-ABDD-7183FBB03A0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922254" y="2630431"/>
            <a:ext cx="5433204" cy="3651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FIRST TO MARKET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E7D4C34-22A0-4D54-A07D-E1E9A11463E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921828" y="2959856"/>
            <a:ext cx="5431971" cy="557950"/>
          </a:xfrm>
        </p:spPr>
        <p:txBody>
          <a:bodyPr/>
          <a:lstStyle/>
          <a:p>
            <a:r>
              <a:rPr lang="en-US" dirty="0"/>
              <a:t>First beautifully designed product that's both stylish and functional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1D392D-FB66-47A0-B628-5ADE822A2CF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22254" y="3730227"/>
            <a:ext cx="5433204" cy="3651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TESTED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1C26CE0-2506-4B44-A26F-C12BFA5B18B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21828" y="4059652"/>
            <a:ext cx="5431971" cy="557950"/>
          </a:xfrm>
        </p:spPr>
        <p:txBody>
          <a:bodyPr/>
          <a:lstStyle/>
          <a:p>
            <a:r>
              <a:rPr lang="en-US" dirty="0"/>
              <a:t>Conducted testing with college students in the area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68F40F8-BF35-45E9-B3DD-5436362D746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20106" y="4830024"/>
            <a:ext cx="5433204" cy="3651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AUTHENTIC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F39C97C-2DDC-4706-B96C-B02FAE53A42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919680" y="5159449"/>
            <a:ext cx="5431971" cy="557950"/>
          </a:xfrm>
        </p:spPr>
        <p:txBody>
          <a:bodyPr/>
          <a:lstStyle/>
          <a:p>
            <a:r>
              <a:rPr lang="en-US" dirty="0"/>
              <a:t>Designed with the help and input of experts in the field </a:t>
            </a:r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A74D661B-510C-4CF2-BF77-3EAFB649883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7E44CAC0-3B5A-49F6-A2CB-0BC80D111A8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D1BD041-3428-4D62-934F-F3FF6D36F90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B93EB-A005-A671-629D-80EB02D01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146" y="393445"/>
            <a:ext cx="5111750" cy="1204912"/>
          </a:xfrm>
        </p:spPr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DC9948-3F93-1A84-32A4-04185D3B4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05063" y="1936955"/>
            <a:ext cx="7639665" cy="3244645"/>
          </a:xfrm>
        </p:spPr>
        <p:txBody>
          <a:bodyPr>
            <a:normAutofit fontScale="40000" lnSpcReduction="20000"/>
          </a:bodyPr>
          <a:lstStyle/>
          <a:p>
            <a:r>
              <a:rPr lang="en-US" sz="7400" dirty="0">
                <a:latin typeface="Adobe Thai" panose="02040503050201020203" pitchFamily="18" charset="-34"/>
                <a:cs typeface="Adobe Thai" panose="02040503050201020203" pitchFamily="18" charset="-34"/>
              </a:rPr>
              <a:t>The objective is to develop a predictive model that estimates </a:t>
            </a:r>
            <a:r>
              <a:rPr lang="en-US" sz="7400" b="1" dirty="0">
                <a:latin typeface="Adobe Thai" panose="02040503050201020203" pitchFamily="18" charset="-34"/>
                <a:cs typeface="Adobe Thai" panose="02040503050201020203" pitchFamily="18" charset="-34"/>
              </a:rPr>
              <a:t>surface roughness</a:t>
            </a:r>
            <a:r>
              <a:rPr lang="en-US" sz="7400" dirty="0">
                <a:latin typeface="Adobe Thai" panose="02040503050201020203" pitchFamily="18" charset="-34"/>
                <a:cs typeface="Adobe Thai" panose="02040503050201020203" pitchFamily="18" charset="-34"/>
              </a:rPr>
              <a:t> in metal cutting operations based on cutting parameters, tool/workpiece materials, machining time, and operational settings. Accurate prediction of surface roughness helps improve product quality, reduce rework, and optimize machining conditions for better efficiency and tool life</a:t>
            </a:r>
            <a:r>
              <a:rPr lang="en-US" sz="7400" dirty="0"/>
              <a:t>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2CA20-A71D-E7E7-ABF8-E75E87879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54E2A-0C4F-6E64-AB98-A78A06FDE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57E55-0209-318D-A481-07DBB07B7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0378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1671639"/>
            <a:ext cx="5111750" cy="1204912"/>
          </a:xfrm>
        </p:spPr>
        <p:txBody>
          <a:bodyPr/>
          <a:lstStyle/>
          <a:p>
            <a:r>
              <a:rPr lang="en-US" dirty="0"/>
              <a:t>PRODUCT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Cool and stylish product</a:t>
            </a:r>
          </a:p>
          <a:p>
            <a:r>
              <a:rPr lang="en-US" noProof="1"/>
              <a:t>Areas for community connections </a:t>
            </a:r>
          </a:p>
          <a:p>
            <a:r>
              <a:rPr lang="en-US" noProof="1"/>
              <a:t>Online store and market swap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ACA2A-6BBE-47CF-B76F-F56C9DBF77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A095E-DB05-47EC-A2D5-47398A4A0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C3221-5F04-4CA7-A86A-EEA8566A1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DE7F2-E890-4744-88DD-A75F5E300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2571235"/>
            <a:ext cx="4179570" cy="1715531"/>
          </a:xfrm>
        </p:spPr>
        <p:txBody>
          <a:bodyPr/>
          <a:lstStyle/>
          <a:p>
            <a:r>
              <a:rPr lang="en-US" dirty="0"/>
              <a:t>COMPANY OVERVIEW</a:t>
            </a:r>
          </a:p>
        </p:txBody>
      </p:sp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A63-A388-49B1-A04E-27CE9BD6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0169" y="1152771"/>
            <a:ext cx="5431971" cy="846301"/>
          </a:xfrm>
        </p:spPr>
        <p:txBody>
          <a:bodyPr/>
          <a:lstStyle/>
          <a:p>
            <a:r>
              <a:rPr lang="en-US" dirty="0"/>
              <a:t>BUSINESS MODEL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640DF9D-0C9E-4C5D-9635-6B4DE10CCE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254" y="2469515"/>
            <a:ext cx="5433204" cy="3651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noProof="1"/>
              <a:t>ABSTRACT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0297407-CE4E-4284-879D-AEC39571362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/>
          <a:p>
            <a:r>
              <a:rPr lang="en-US" noProof="1"/>
              <a:t>We based our research on market trends and social media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5C3A7BE-F7FC-4942-A31A-491A8A80610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922254" y="3569311"/>
            <a:ext cx="5433204" cy="3651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noProof="1"/>
              <a:t>DESIGN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5CCE699-03D1-4642-B46A-B14EF17DA18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/>
          <a:p>
            <a:r>
              <a:rPr lang="en-US" noProof="1"/>
              <a:t>We believe people need more products specifically dedicated to this niche market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1DF189-6F2F-4C21-88CC-C82D3D0D147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22254" y="4669107"/>
            <a:ext cx="5433204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noProof="1"/>
              <a:t>RESEARCH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E82690-B145-4D4F-B2D1-0B2A8C50FD7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/>
          <a:p>
            <a:r>
              <a:rPr lang="en-US" noProof="1"/>
              <a:t>Minimalist and easy to use </a:t>
            </a:r>
          </a:p>
        </p:txBody>
      </p:sp>
      <p:sp>
        <p:nvSpPr>
          <p:cNvPr id="32" name="Date Placeholder 31">
            <a:extLst>
              <a:ext uri="{FF2B5EF4-FFF2-40B4-BE49-F238E27FC236}">
                <a16:creationId xmlns:a16="http://schemas.microsoft.com/office/drawing/2014/main" id="{D5DB19F8-B538-4965-BA90-ED372B99F5DC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5C44B1-BA82-483C-BD91-F89067442F9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D4A67-3A46-4F54-A12A-EAE1B53E645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393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/>
          <a:lstStyle/>
          <a:p>
            <a:r>
              <a:rPr lang="en-US" dirty="0"/>
              <a:t>MARKET OVERVIEW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12B089-A8F9-45B1-BE6E-EAC10163F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3104" y="2776936"/>
            <a:ext cx="2882475" cy="823912"/>
          </a:xfrm>
        </p:spPr>
        <p:txBody>
          <a:bodyPr/>
          <a:lstStyle/>
          <a:p>
            <a:r>
              <a:rPr lang="en-US" dirty="0"/>
              <a:t>$3 Billion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B35F89A-6CDF-41F7-BD87-18B45BD73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1"/>
              <a:t>Freedom to invent</a:t>
            </a:r>
            <a:endParaRPr lang="en-US" dirty="0"/>
          </a:p>
          <a:p>
            <a:r>
              <a:rPr lang="en-US" noProof="1"/>
              <a:t>Selectively inclusive market</a:t>
            </a:r>
          </a:p>
          <a:p>
            <a:r>
              <a:rPr lang="en-US" noProof="1"/>
              <a:t>Serviceable available market</a:t>
            </a:r>
          </a:p>
          <a:p>
            <a:endParaRPr lang="en-US" noProof="1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FE22F9B-4BF8-41DC-8F1C-836B546E59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7665" y="2776936"/>
            <a:ext cx="2896671" cy="823912"/>
          </a:xfrm>
        </p:spPr>
        <p:txBody>
          <a:bodyPr/>
          <a:lstStyle/>
          <a:p>
            <a:r>
              <a:rPr lang="en-US" dirty="0"/>
              <a:t>$1 Billion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E1C399-8F48-44F5-9461-3C89866D4C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/>
          <a:lstStyle/>
          <a:p>
            <a:r>
              <a:rPr lang="en-US" dirty="0"/>
              <a:t>Opportunity to build</a:t>
            </a:r>
          </a:p>
          <a:p>
            <a:r>
              <a:rPr lang="en-US" dirty="0"/>
              <a:t>Fully inclusive market</a:t>
            </a:r>
          </a:p>
          <a:p>
            <a:r>
              <a:rPr lang="en-US" dirty="0"/>
              <a:t>Total addressable market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515C5D-2CDB-4E66-B2B8-1451BC44247F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066421" y="2776936"/>
            <a:ext cx="2882475" cy="82391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$2 Billion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92B9716-8D44-4864-8986-720957B3436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/>
          <a:lstStyle/>
          <a:p>
            <a:r>
              <a:rPr lang="en-US" noProof="1"/>
              <a:t>Few competitors</a:t>
            </a:r>
          </a:p>
          <a:p>
            <a:r>
              <a:rPr lang="en-US" noProof="1"/>
              <a:t>Specifically targeted market</a:t>
            </a:r>
          </a:p>
          <a:p>
            <a:r>
              <a:rPr lang="en-US" noProof="1"/>
              <a:t>Serviceable obtainable market</a:t>
            </a:r>
            <a:endParaRPr lang="en-US" dirty="0"/>
          </a:p>
          <a:p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B78F7A0-88C5-4940-B21C-099F472F39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2186069-FC8E-433D-9BB4-942220CE8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1178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4BC4F-3D59-464A-857E-6F155B368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/>
          <a:lstStyle/>
          <a:p>
            <a:r>
              <a:rPr lang="en-US" dirty="0"/>
              <a:t>Market comparison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C1455DF-5CEC-44A2-A92D-8E901D15B7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63855" y="3064615"/>
            <a:ext cx="1240971" cy="823912"/>
          </a:xfrm>
        </p:spPr>
        <p:txBody>
          <a:bodyPr/>
          <a:lstStyle/>
          <a:p>
            <a:r>
              <a:rPr lang="en-US" dirty="0"/>
              <a:t>$3B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C7E7B18-D05F-4C44-8718-8C671160FC98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5475514" y="3064615"/>
            <a:ext cx="1240971" cy="823912"/>
          </a:xfrm>
        </p:spPr>
        <p:txBody>
          <a:bodyPr/>
          <a:lstStyle/>
          <a:p>
            <a:r>
              <a:rPr lang="en-US" dirty="0"/>
              <a:t>$2B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4EAD5C6-02F0-4D27-8D85-1BD5EA833D6F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887174" y="3064615"/>
            <a:ext cx="1240971" cy="823912"/>
          </a:xfrm>
        </p:spPr>
        <p:txBody>
          <a:bodyPr/>
          <a:lstStyle/>
          <a:p>
            <a:r>
              <a:rPr lang="en-US" dirty="0"/>
              <a:t>$1B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791D6145-F7F7-43DE-A16B-BF4F9607D4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/>
          <a:lstStyle/>
          <a:p>
            <a:r>
              <a:rPr lang="en-US" dirty="0"/>
              <a:t>Opportunity to build</a:t>
            </a: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BC46925A-8382-42EB-891C-DBB4EAAA33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/>
          <a:lstStyle/>
          <a:p>
            <a:r>
              <a:rPr lang="en-US" dirty="0"/>
              <a:t>Freedom to invent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318AFADE-B54F-4988-8000-B9336A3953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/>
          <a:lstStyle/>
          <a:p>
            <a:r>
              <a:rPr lang="en-US" dirty="0"/>
              <a:t>Few competitors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F296843C-0ED0-4314-A6F0-DD60C828DDFB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/>
          <a:lstStyle/>
          <a:p>
            <a:r>
              <a:rPr lang="en-US" dirty="0"/>
              <a:t>Addressable market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649BF20C-562E-400E-BEA6-1D5F81F2FE4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/>
          <a:lstStyle/>
          <a:p>
            <a:r>
              <a:rPr lang="en-US" dirty="0"/>
              <a:t>Serviceable market</a:t>
            </a:r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5AA25980-D334-4FC0-9091-936E53B8D321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/>
          <a:lstStyle/>
          <a:p>
            <a:r>
              <a:rPr lang="en-US" dirty="0"/>
              <a:t>Obtainable market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C22D8C-87A6-47AD-8D29-FBBA539EDB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346909-C2E0-4F1D-90FC-F5E1D8DFB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C02F21-4E3C-469E-B11C-921423108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854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892177"/>
            <a:ext cx="8421688" cy="1325563"/>
          </a:xfrm>
        </p:spPr>
        <p:txBody>
          <a:bodyPr/>
          <a:lstStyle/>
          <a:p>
            <a:r>
              <a:rPr lang="en-US" dirty="0"/>
              <a:t>OUR COMPETITION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657664-A458-4DDD-ACC2-1D87FCD6FC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3700" y="2776936"/>
            <a:ext cx="3924300" cy="823912"/>
          </a:xfrm>
        </p:spPr>
        <p:txBody>
          <a:bodyPr/>
          <a:lstStyle/>
          <a:p>
            <a:r>
              <a:rPr lang="en-US" dirty="0"/>
              <a:t>CONTOSO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6B31B0-7B84-475D-961F-09C0191F91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1"/>
              <a:t>Our product is priced below that of other companies on the market</a:t>
            </a:r>
          </a:p>
          <a:p>
            <a:r>
              <a:rPr lang="en-US" noProof="1"/>
              <a:t>Design is simple and easy to use, compared to the complex designs of the competitors</a:t>
            </a:r>
          </a:p>
          <a:p>
            <a:r>
              <a:rPr lang="en-US" noProof="1"/>
              <a:t>Affordability is the main draw for our consumers to our product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78017FE-712E-4E95-B483-B700F1AA4B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10173" y="2776936"/>
            <a:ext cx="3943627" cy="823912"/>
          </a:xfrm>
        </p:spPr>
        <p:txBody>
          <a:bodyPr/>
          <a:lstStyle/>
          <a:p>
            <a:r>
              <a:rPr lang="en-US" dirty="0"/>
              <a:t>COMPETITORS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0E0ACA0-9139-4C37-920D-BF3C1FF461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/>
          <a:lstStyle/>
          <a:p>
            <a:r>
              <a:rPr lang="en-US" noProof="1"/>
              <a:t>Company A</a:t>
            </a:r>
            <a:br>
              <a:rPr lang="en-US" noProof="1"/>
            </a:br>
            <a:r>
              <a:rPr lang="en-US" noProof="1"/>
              <a:t>Product is more expensive</a:t>
            </a:r>
          </a:p>
          <a:p>
            <a:r>
              <a:rPr lang="en-US" noProof="1"/>
              <a:t>Companies B &amp; C </a:t>
            </a:r>
            <a:br>
              <a:rPr lang="en-US" noProof="1"/>
            </a:br>
            <a:r>
              <a:rPr lang="en-US" noProof="1"/>
              <a:t>Product is expensive and inconvenient to use</a:t>
            </a:r>
          </a:p>
          <a:p>
            <a:r>
              <a:rPr lang="en-US" noProof="1"/>
              <a:t>Companies D &amp; E</a:t>
            </a:r>
            <a:br>
              <a:rPr lang="en-US" noProof="1"/>
            </a:br>
            <a:r>
              <a:rPr lang="en-US" noProof="1"/>
              <a:t>Product is affordable, but inconvenient to use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5909F2DC-F097-42AB-88E7-0CA09BD5E2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F4A37AA9-0BEE-42AC-8CC0-AE5B86635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52A75-1CD2-44EC-9374-C83D4604A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C0770-A36E-4500-AA2E-F3DE8416A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Our competition 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97FAAF-FD5C-4EDE-A2D8-14826645348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42517" y="1599947"/>
            <a:ext cx="1706965" cy="492025"/>
          </a:xfrm>
        </p:spPr>
        <p:txBody>
          <a:bodyPr>
            <a:normAutofit/>
          </a:bodyPr>
          <a:lstStyle/>
          <a:p>
            <a:r>
              <a:rPr lang="en-US" dirty="0"/>
              <a:t>Convenient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2F06784-6A30-4941-B70A-A58B611950D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738732" y="2378452"/>
            <a:ext cx="1183179" cy="492025"/>
          </a:xfrm>
        </p:spPr>
        <p:txBody>
          <a:bodyPr>
            <a:normAutofit/>
          </a:bodyPr>
          <a:lstStyle/>
          <a:p>
            <a:r>
              <a:rPr lang="en-US" dirty="0"/>
              <a:t>Competitor A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BF7EE2E1-DA9E-4645-BC0D-305C1F12118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522269" y="2169263"/>
            <a:ext cx="1706965" cy="1048575"/>
          </a:xfrm>
        </p:spPr>
        <p:txBody>
          <a:bodyPr/>
          <a:lstStyle/>
          <a:p>
            <a:r>
              <a:rPr lang="en-US" dirty="0"/>
              <a:t>Contoso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8BD1918-91E9-45FF-B758-93DAFA9EAF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21894" y="3528829"/>
            <a:ext cx="1393863" cy="492025"/>
          </a:xfrm>
        </p:spPr>
        <p:txBody>
          <a:bodyPr/>
          <a:lstStyle/>
          <a:p>
            <a:r>
              <a:rPr lang="en-US" dirty="0"/>
              <a:t>Affordable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9C0C8B1-2DBC-40B1-BBA7-7B3D396478A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940449" y="3528829"/>
            <a:ext cx="1380681" cy="492025"/>
          </a:xfrm>
        </p:spPr>
        <p:txBody>
          <a:bodyPr>
            <a:normAutofit/>
          </a:bodyPr>
          <a:lstStyle/>
          <a:p>
            <a:r>
              <a:rPr lang="en-US" dirty="0"/>
              <a:t>Expensive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25FED20-8F0E-4B86-88AD-F902806B2CA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637747" y="4634331"/>
            <a:ext cx="1183179" cy="492025"/>
          </a:xfrm>
        </p:spPr>
        <p:txBody>
          <a:bodyPr/>
          <a:lstStyle/>
          <a:p>
            <a:r>
              <a:rPr lang="en-US" dirty="0"/>
              <a:t>Competitor B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568D7422-F48C-4829-8937-7DA701F3303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175224" y="4459860"/>
            <a:ext cx="1183179" cy="492025"/>
          </a:xfrm>
        </p:spPr>
        <p:txBody>
          <a:bodyPr/>
          <a:lstStyle/>
          <a:p>
            <a:r>
              <a:rPr lang="en-US" dirty="0"/>
              <a:t>Competitor C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2329531A-E68A-4913-9B66-062FBAC6D24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52714" y="4321788"/>
            <a:ext cx="1183179" cy="492025"/>
          </a:xfrm>
        </p:spPr>
        <p:txBody>
          <a:bodyPr/>
          <a:lstStyle/>
          <a:p>
            <a:r>
              <a:rPr lang="en-US" dirty="0"/>
              <a:t>Competitor 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F0BD43D-EBFD-48E7-A1D3-EB9228D4C58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42517" y="5468790"/>
            <a:ext cx="1706965" cy="492025"/>
          </a:xfrm>
        </p:spPr>
        <p:txBody>
          <a:bodyPr>
            <a:normAutofit/>
          </a:bodyPr>
          <a:lstStyle/>
          <a:p>
            <a:r>
              <a:rPr lang="en-US" dirty="0"/>
              <a:t>Inconvenient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69ADCED5-CED8-4991-9B1E-DB7381BE743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801857" y="5195673"/>
            <a:ext cx="1183179" cy="492025"/>
          </a:xfrm>
        </p:spPr>
        <p:txBody>
          <a:bodyPr/>
          <a:lstStyle/>
          <a:p>
            <a:r>
              <a:rPr lang="en-US" dirty="0"/>
              <a:t>Competitor E</a:t>
            </a: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8ADD2DBD-D314-47B1-BD25-DAF6D4437F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C7E0A4-FE8E-4F7B-8370-1FA3484B6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E495FC-7E0A-4342-A40D-3B65DCA78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116CCE2-DE5B-4D04-8780-DE09E03B8A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91806" y="2334532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930BF4B-0565-4413-BDB0-116E9B84F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8369" y="4421188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EC73B38-496F-4951-89EB-38E1A77E1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4455" y="4595813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658B547-4844-4FC2-9B4E-C8A8DF4D66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06444" y="4288517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7890BF0-461E-41CE-AFC1-AD52C6B95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55806" y="5157788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Graphic 61">
            <a:extLst>
              <a:ext uri="{FF2B5EF4-FFF2-40B4-BE49-F238E27FC236}">
                <a16:creationId xmlns:a16="http://schemas.microsoft.com/office/drawing/2014/main" id="{9201E1F5-4143-449F-8629-751D36001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97401" y="2072999"/>
            <a:ext cx="1519834" cy="1268594"/>
          </a:xfrm>
          <a:custGeom>
            <a:avLst/>
            <a:gdLst>
              <a:gd name="connsiteX0" fmla="*/ 625766 w 1590050"/>
              <a:gd name="connsiteY0" fmla="*/ 178826 h 1315433"/>
              <a:gd name="connsiteX1" fmla="*/ 284934 w 1590050"/>
              <a:gd name="connsiteY1" fmla="*/ 458195 h 1315433"/>
              <a:gd name="connsiteX2" fmla="*/ 236288 w 1590050"/>
              <a:gd name="connsiteY2" fmla="*/ 498087 h 1315433"/>
              <a:gd name="connsiteX3" fmla="*/ 70217 w 1590050"/>
              <a:gd name="connsiteY3" fmla="*/ 843983 h 1315433"/>
              <a:gd name="connsiteX4" fmla="*/ 651339 w 1590050"/>
              <a:gd name="connsiteY4" fmla="*/ 1315434 h 1315433"/>
              <a:gd name="connsiteX5" fmla="*/ 1079209 w 1590050"/>
              <a:gd name="connsiteY5" fmla="*/ 1264350 h 1315433"/>
              <a:gd name="connsiteX6" fmla="*/ 1430420 w 1590050"/>
              <a:gd name="connsiteY6" fmla="*/ 957844 h 1315433"/>
              <a:gd name="connsiteX7" fmla="*/ 1590051 w 1590050"/>
              <a:gd name="connsiteY7" fmla="*/ 536415 h 1315433"/>
              <a:gd name="connsiteX8" fmla="*/ 1277105 w 1590050"/>
              <a:gd name="connsiteY8" fmla="*/ 312883 h 1315433"/>
              <a:gd name="connsiteX9" fmla="*/ 913138 w 1590050"/>
              <a:gd name="connsiteY9" fmla="*/ 134119 h 1315433"/>
              <a:gd name="connsiteX10" fmla="*/ 536415 w 1590050"/>
              <a:gd name="connsiteY10" fmla="*/ 83035 h 1315433"/>
              <a:gd name="connsiteX11" fmla="*/ 191581 w 1590050"/>
              <a:gd name="connsiteY11" fmla="*/ 843983 h 1315433"/>
              <a:gd name="connsiteX12" fmla="*/ 146875 w 1590050"/>
              <a:gd name="connsiteY12" fmla="*/ 1149426 h 1315433"/>
              <a:gd name="connsiteX13" fmla="*/ 1245217 w 1590050"/>
              <a:gd name="connsiteY13" fmla="*/ 1289923 h 1315433"/>
              <a:gd name="connsiteX14" fmla="*/ 1519771 w 1590050"/>
              <a:gd name="connsiteY14" fmla="*/ 344834 h 1315433"/>
              <a:gd name="connsiteX15" fmla="*/ 798214 w 1590050"/>
              <a:gd name="connsiteY15" fmla="*/ 223532 h 1315433"/>
              <a:gd name="connsiteX16" fmla="*/ 0 w 1590050"/>
              <a:gd name="connsiteY16" fmla="*/ 699235 h 1315433"/>
              <a:gd name="connsiteX17" fmla="*/ 434247 w 1590050"/>
              <a:gd name="connsiteY17" fmla="*/ 1315434 h 1315433"/>
              <a:gd name="connsiteX18" fmla="*/ 1468686 w 1590050"/>
              <a:gd name="connsiteY18" fmla="*/ 1091964 h 1315433"/>
              <a:gd name="connsiteX19" fmla="*/ 1155804 w 1590050"/>
              <a:gd name="connsiteY19" fmla="*/ 0 h 1315433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146875 w 1590051"/>
              <a:gd name="connsiteY12" fmla="*/ 114942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344995 w 1590051"/>
              <a:gd name="connsiteY12" fmla="*/ 101988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727997 w 1519834"/>
              <a:gd name="connsiteY15" fmla="*/ 22353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428949 w 1519834"/>
              <a:gd name="connsiteY18" fmla="*/ 9395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64030 w 1519834"/>
              <a:gd name="connsiteY17" fmla="*/ 131543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56410 w 1519834"/>
              <a:gd name="connsiteY17" fmla="*/ 124685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95791 h 1262879"/>
              <a:gd name="connsiteX1" fmla="*/ 214717 w 1519834"/>
              <a:gd name="connsiteY1" fmla="*/ 375160 h 1262879"/>
              <a:gd name="connsiteX2" fmla="*/ 166071 w 1519834"/>
              <a:gd name="connsiteY2" fmla="*/ 415052 h 1262879"/>
              <a:gd name="connsiteX3" fmla="*/ 0 w 1519834"/>
              <a:gd name="connsiteY3" fmla="*/ 760948 h 1262879"/>
              <a:gd name="connsiteX4" fmla="*/ 741142 w 1519834"/>
              <a:gd name="connsiteY4" fmla="*/ 1262879 h 1262879"/>
              <a:gd name="connsiteX5" fmla="*/ 1008992 w 1519834"/>
              <a:gd name="connsiteY5" fmla="*/ 1181315 h 1262879"/>
              <a:gd name="connsiteX6" fmla="*/ 1253523 w 1519834"/>
              <a:gd name="connsiteY6" fmla="*/ 829089 h 1262879"/>
              <a:gd name="connsiteX7" fmla="*/ 1519834 w 1519834"/>
              <a:gd name="connsiteY7" fmla="*/ 453380 h 1262879"/>
              <a:gd name="connsiteX8" fmla="*/ 1206888 w 1519834"/>
              <a:gd name="connsiteY8" fmla="*/ 229848 h 1262879"/>
              <a:gd name="connsiteX9" fmla="*/ 842921 w 1519834"/>
              <a:gd name="connsiteY9" fmla="*/ 51084 h 1262879"/>
              <a:gd name="connsiteX10" fmla="*/ 466198 w 1519834"/>
              <a:gd name="connsiteY10" fmla="*/ 0 h 1262879"/>
              <a:gd name="connsiteX11" fmla="*/ 220424 w 1519834"/>
              <a:gd name="connsiteY11" fmla="*/ 578068 h 1262879"/>
              <a:gd name="connsiteX12" fmla="*/ 274778 w 1519834"/>
              <a:gd name="connsiteY12" fmla="*/ 936851 h 1262879"/>
              <a:gd name="connsiteX13" fmla="*/ 1175000 w 1519834"/>
              <a:gd name="connsiteY13" fmla="*/ 1206888 h 1262879"/>
              <a:gd name="connsiteX14" fmla="*/ 1449554 w 1519834"/>
              <a:gd name="connsiteY14" fmla="*/ 261799 h 1262879"/>
              <a:gd name="connsiteX15" fmla="*/ 331757 w 1519834"/>
              <a:gd name="connsiteY15" fmla="*/ 79537 h 1262879"/>
              <a:gd name="connsiteX16" fmla="*/ 105043 w 1519834"/>
              <a:gd name="connsiteY16" fmla="*/ 639060 h 1262879"/>
              <a:gd name="connsiteX17" fmla="*/ 356410 w 1519834"/>
              <a:gd name="connsiteY17" fmla="*/ 1163819 h 1262879"/>
              <a:gd name="connsiteX18" fmla="*/ 1428949 w 1519834"/>
              <a:gd name="connsiteY18" fmla="*/ 856529 h 1262879"/>
              <a:gd name="connsiteX19" fmla="*/ 1055107 w 1519834"/>
              <a:gd name="connsiteY19" fmla="*/ 61745 h 1262879"/>
              <a:gd name="connsiteX20" fmla="*/ 555549 w 1519834"/>
              <a:gd name="connsiteY20" fmla="*/ 95791 h 1262879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428949 w 1519834"/>
              <a:gd name="connsiteY18" fmla="*/ 85652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203699 w 1519834"/>
              <a:gd name="connsiteY19" fmla="*/ 4892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489449 w 1519834"/>
              <a:gd name="connsiteY19" fmla="*/ 6416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519834" h="1268594">
                <a:moveTo>
                  <a:pt x="555549" y="95791"/>
                </a:moveTo>
                <a:lnTo>
                  <a:pt x="214717" y="375160"/>
                </a:lnTo>
                <a:lnTo>
                  <a:pt x="166071" y="415052"/>
                </a:lnTo>
                <a:lnTo>
                  <a:pt x="0" y="760948"/>
                </a:lnTo>
                <a:lnTo>
                  <a:pt x="741142" y="1262879"/>
                </a:lnTo>
                <a:lnTo>
                  <a:pt x="1008992" y="1181315"/>
                </a:lnTo>
                <a:lnTo>
                  <a:pt x="1253523" y="829089"/>
                </a:lnTo>
                <a:lnTo>
                  <a:pt x="1519834" y="453380"/>
                </a:lnTo>
                <a:lnTo>
                  <a:pt x="1206888" y="229848"/>
                </a:lnTo>
                <a:lnTo>
                  <a:pt x="842921" y="51084"/>
                </a:lnTo>
                <a:lnTo>
                  <a:pt x="466198" y="0"/>
                </a:lnTo>
                <a:lnTo>
                  <a:pt x="220424" y="578068"/>
                </a:lnTo>
                <a:lnTo>
                  <a:pt x="274778" y="936851"/>
                </a:lnTo>
                <a:lnTo>
                  <a:pt x="1175000" y="1206888"/>
                </a:lnTo>
                <a:lnTo>
                  <a:pt x="1449554" y="261799"/>
                </a:lnTo>
                <a:lnTo>
                  <a:pt x="331757" y="79537"/>
                </a:lnTo>
                <a:lnTo>
                  <a:pt x="105043" y="639060"/>
                </a:lnTo>
                <a:lnTo>
                  <a:pt x="489760" y="1268594"/>
                </a:lnTo>
                <a:lnTo>
                  <a:pt x="1371799" y="989879"/>
                </a:lnTo>
                <a:lnTo>
                  <a:pt x="1489449" y="641626"/>
                </a:lnTo>
                <a:lnTo>
                  <a:pt x="1055107" y="61745"/>
                </a:lnTo>
                <a:lnTo>
                  <a:pt x="555549" y="95791"/>
                </a:lnTo>
                <a:close/>
              </a:path>
            </a:pathLst>
          </a:custGeom>
          <a:noFill/>
          <a:ln w="3175" cap="flat">
            <a:solidFill>
              <a:schemeClr val="accent1">
                <a:lumMod val="7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3967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05AF1-623C-4E09-AB5D-8DD057148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0169" y="1152771"/>
            <a:ext cx="5431971" cy="846301"/>
          </a:xfrm>
        </p:spPr>
        <p:txBody>
          <a:bodyPr/>
          <a:lstStyle/>
          <a:p>
            <a:r>
              <a:rPr lang="en-US" dirty="0"/>
              <a:t>Growth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DDDEF-20C4-4F65-BAC9-0A763DF7E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254" y="2469515"/>
            <a:ext cx="5433204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Feb 20XX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4158E79-DA49-4521-BEC6-A7BA93C41F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/>
          <a:p>
            <a:r>
              <a:rPr lang="en-US" dirty="0"/>
              <a:t>Roll out product to high profile or top-level participants to help establish the product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19E41BC-4F05-4804-843A-E1846794FBF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922254" y="3569311"/>
            <a:ext cx="5433204" cy="3651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Mar 20XX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3BDF8B9-53DF-46F4-98D4-053D78D610B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921828" y="3898736"/>
            <a:ext cx="5431971" cy="557950"/>
          </a:xfrm>
        </p:spPr>
        <p:txBody>
          <a:bodyPr/>
          <a:lstStyle/>
          <a:p>
            <a:r>
              <a:rPr lang="en-US" dirty="0"/>
              <a:t>Release the product to the general public and monitor press release and social media accounts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FD0A14C-4421-4979-AF8C-F7E649A8816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22254" y="4669107"/>
            <a:ext cx="5433204" cy="3651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Oct 20XX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9C0DB469-503B-40AF-84D1-C69B085AA96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/>
          <a:p>
            <a:r>
              <a:rPr lang="en-US" dirty="0"/>
              <a:t>Gather feedback and adjust product design as necessary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C0E0A-2715-4BF9-8659-0ED8629BA2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75224-81EB-4CDA-BBBE-44B4B2F3C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2F697-D1D4-4B0A-B960-D1869BF86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1061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1188AF-1B8F-40DD-90B1-DC0F52BA4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lIns="0"/>
          <a:lstStyle/>
          <a:p>
            <a:r>
              <a:rPr lang="en-US" dirty="0"/>
              <a:t>TRACTION</a:t>
            </a:r>
          </a:p>
        </p:txBody>
      </p:sp>
      <p:sp>
        <p:nvSpPr>
          <p:cNvPr id="75" name="Text Placeholder 74">
            <a:extLst>
              <a:ext uri="{FF2B5EF4-FFF2-40B4-BE49-F238E27FC236}">
                <a16:creationId xmlns:a16="http://schemas.microsoft.com/office/drawing/2014/main" id="{5425916A-A2C0-45C3-9A48-E48DEB97F63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8749" y="1361938"/>
            <a:ext cx="6765925" cy="496888"/>
          </a:xfrm>
        </p:spPr>
        <p:txBody>
          <a:bodyPr/>
          <a:lstStyle/>
          <a:p>
            <a:r>
              <a:rPr lang="en-US" dirty="0"/>
              <a:t>Forecasting for success</a:t>
            </a:r>
          </a:p>
        </p:txBody>
      </p:sp>
      <p:graphicFrame>
        <p:nvGraphicFramePr>
          <p:cNvPr id="53" name="Table 50">
            <a:extLst>
              <a:ext uri="{FF2B5EF4-FFF2-40B4-BE49-F238E27FC236}">
                <a16:creationId xmlns:a16="http://schemas.microsoft.com/office/drawing/2014/main" id="{7EB17215-3702-4854-86F9-086DB8BCA17E}"/>
              </a:ext>
            </a:extLst>
          </p:cNvPr>
          <p:cNvGraphicFramePr>
            <a:graphicFrameLocks noGrp="1"/>
          </p:cNvGraphicFramePr>
          <p:nvPr>
            <p:ph type="chart" sz="quarter" idx="13"/>
            <p:extLst>
              <p:ext uri="{D42A27DB-BD31-4B8C-83A1-F6EECF244321}">
                <p14:modId xmlns:p14="http://schemas.microsoft.com/office/powerpoint/2010/main" val="2246906401"/>
              </p:ext>
            </p:extLst>
          </p:nvPr>
        </p:nvGraphicFramePr>
        <p:xfrm>
          <a:off x="838200" y="2286000"/>
          <a:ext cx="6099051" cy="3503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8631">
                  <a:extLst>
                    <a:ext uri="{9D8B030D-6E8A-4147-A177-3AD203B41FA5}">
                      <a16:colId xmlns:a16="http://schemas.microsoft.com/office/drawing/2014/main" val="544038161"/>
                    </a:ext>
                  </a:extLst>
                </a:gridCol>
                <a:gridCol w="1130105">
                  <a:extLst>
                    <a:ext uri="{9D8B030D-6E8A-4147-A177-3AD203B41FA5}">
                      <a16:colId xmlns:a16="http://schemas.microsoft.com/office/drawing/2014/main" val="2284043154"/>
                    </a:ext>
                  </a:extLst>
                </a:gridCol>
                <a:gridCol w="1130105">
                  <a:extLst>
                    <a:ext uri="{9D8B030D-6E8A-4147-A177-3AD203B41FA5}">
                      <a16:colId xmlns:a16="http://schemas.microsoft.com/office/drawing/2014/main" val="2987712514"/>
                    </a:ext>
                  </a:extLst>
                </a:gridCol>
                <a:gridCol w="1130105">
                  <a:extLst>
                    <a:ext uri="{9D8B030D-6E8A-4147-A177-3AD203B41FA5}">
                      <a16:colId xmlns:a16="http://schemas.microsoft.com/office/drawing/2014/main" val="1068233346"/>
                    </a:ext>
                  </a:extLst>
                </a:gridCol>
                <a:gridCol w="1130105">
                  <a:extLst>
                    <a:ext uri="{9D8B030D-6E8A-4147-A177-3AD203B41FA5}">
                      <a16:colId xmlns:a16="http://schemas.microsoft.com/office/drawing/2014/main" val="3019130451"/>
                    </a:ext>
                  </a:extLst>
                </a:gridCol>
              </a:tblGrid>
              <a:tr h="308774">
                <a:tc>
                  <a:txBody>
                    <a:bodyPr/>
                    <a:lstStyle/>
                    <a:p>
                      <a:pPr algn="r"/>
                      <a:r>
                        <a:rPr lang="en-US" sz="1400" b="0" cap="all" spc="1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</a:rPr>
                        <a:t>Key Metrics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 cap="all" spc="1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 cap="all" spc="1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 cap="all" spc="1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0" cap="all" spc="1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065677"/>
                  </a:ext>
                </a:extLst>
              </a:tr>
              <a:tr h="638982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Clients</a:t>
                      </a:r>
                      <a:endParaRPr lang="ru-RU" sz="12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Orders</a:t>
                      </a:r>
                      <a:endParaRPr lang="ru-RU" sz="12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Gross revenue</a:t>
                      </a:r>
                      <a:endParaRPr lang="ru-RU" sz="12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Net revenue</a:t>
                      </a:r>
                      <a:endParaRPr lang="ru-RU" sz="12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137574"/>
                  </a:ext>
                </a:extLst>
              </a:tr>
              <a:tr h="63898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20XX</a:t>
                      </a:r>
                      <a:endParaRPr lang="ru-RU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10</a:t>
                      </a:r>
                      <a:endParaRPr lang="ru-RU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1100</a:t>
                      </a:r>
                      <a:endParaRPr lang="ru-RU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$10,000</a:t>
                      </a:r>
                      <a:endParaRPr lang="ru-RU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$7,000</a:t>
                      </a:r>
                      <a:endParaRPr lang="ru-RU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742485"/>
                  </a:ext>
                </a:extLst>
              </a:tr>
              <a:tr h="63898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20XX</a:t>
                      </a:r>
                      <a:endParaRPr lang="ru-RU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</a:t>
                      </a:r>
                      <a:endParaRPr lang="ru-RU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200</a:t>
                      </a:r>
                      <a:endParaRPr lang="ru-RU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$20,000</a:t>
                      </a:r>
                      <a:endParaRPr lang="ru-RU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$16,000</a:t>
                      </a:r>
                      <a:endParaRPr lang="ru-RU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6860975"/>
                  </a:ext>
                </a:extLst>
              </a:tr>
              <a:tr h="63898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20XX</a:t>
                      </a:r>
                      <a:endParaRPr lang="ru-RU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30</a:t>
                      </a:r>
                      <a:endParaRPr lang="ru-RU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300</a:t>
                      </a:r>
                      <a:endParaRPr lang="ru-RU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$30,000</a:t>
                      </a:r>
                      <a:endParaRPr lang="ru-RU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$25,000</a:t>
                      </a:r>
                      <a:endParaRPr lang="ru-RU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5121222"/>
                  </a:ext>
                </a:extLst>
              </a:tr>
              <a:tr h="63898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20XX</a:t>
                      </a:r>
                      <a:endParaRPr lang="ru-RU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40</a:t>
                      </a:r>
                      <a:endParaRPr lang="ru-RU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400</a:t>
                      </a:r>
                      <a:endParaRPr lang="ru-RU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$40,000</a:t>
                      </a:r>
                      <a:endParaRPr lang="ru-RU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$30,000</a:t>
                      </a:r>
                      <a:endParaRPr lang="ru-RU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123171"/>
                  </a:ext>
                </a:extLst>
              </a:tr>
            </a:tbl>
          </a:graphicData>
        </a:graphic>
      </p:graphicFrame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54CD4A7-4E1A-4902-993B-81A396A367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58125" y="2284624"/>
            <a:ext cx="3147332" cy="306388"/>
          </a:xfrm>
        </p:spPr>
        <p:txBody>
          <a:bodyPr>
            <a:normAutofit/>
          </a:bodyPr>
          <a:lstStyle/>
          <a:p>
            <a:r>
              <a:rPr lang="en-US" dirty="0"/>
              <a:t>REVENUE BY YEAR</a:t>
            </a:r>
          </a:p>
        </p:txBody>
      </p:sp>
      <p:graphicFrame>
        <p:nvGraphicFramePr>
          <p:cNvPr id="34" name="Content Placeholder 13" descr="Chart">
            <a:extLst>
              <a:ext uri="{FF2B5EF4-FFF2-40B4-BE49-F238E27FC236}">
                <a16:creationId xmlns:a16="http://schemas.microsoft.com/office/drawing/2014/main" id="{9E19FFD2-695D-4BD0-AA46-41C8970D76E2}"/>
              </a:ext>
            </a:extLst>
          </p:cNvPr>
          <p:cNvGraphicFramePr>
            <a:graphicFrameLocks noGrp="1"/>
          </p:cNvGraphicFramePr>
          <p:nvPr>
            <p:ph sz="quarter" idx="15"/>
            <p:extLst>
              <p:ext uri="{D42A27DB-BD31-4B8C-83A1-F6EECF244321}">
                <p14:modId xmlns:p14="http://schemas.microsoft.com/office/powerpoint/2010/main" val="2173192865"/>
              </p:ext>
            </p:extLst>
          </p:nvPr>
        </p:nvGraphicFramePr>
        <p:xfrm>
          <a:off x="7858125" y="2779713"/>
          <a:ext cx="3148013" cy="3095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2600B4-5BE8-447C-8531-6CD75CB457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7076FA-2B16-4A6F-9631-8D175CE78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88B044-C125-4F21-B6E1-ECBEB9762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16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98F823A-E7BB-4668-930B-C119B7771E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178143" y="0"/>
            <a:ext cx="2013857" cy="14151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173C4F3-0B20-4720-9910-82CE4DCE4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752114" y="0"/>
            <a:ext cx="3439886" cy="5769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38719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84294-49A0-4C63-A7D7-E3BF9E591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TWO-YEAR ACTION PLAN</a:t>
            </a:r>
          </a:p>
        </p:txBody>
      </p:sp>
      <p:sp>
        <p:nvSpPr>
          <p:cNvPr id="110" name="Text Placeholder 31">
            <a:extLst>
              <a:ext uri="{FF2B5EF4-FFF2-40B4-BE49-F238E27FC236}">
                <a16:creationId xmlns:a16="http://schemas.microsoft.com/office/drawing/2014/main" id="{2FF506C9-7C92-4B9C-A356-9B519D03C78D}"/>
              </a:ext>
            </a:extLst>
          </p:cNvPr>
          <p:cNvSpPr txBox="1">
            <a:spLocks/>
          </p:cNvSpPr>
          <p:nvPr/>
        </p:nvSpPr>
        <p:spPr>
          <a:xfrm>
            <a:off x="2042184" y="2220913"/>
            <a:ext cx="2057400" cy="5619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1400" spc="150" dirty="0">
                <a:latin typeface="+mj-lt"/>
                <a:ea typeface="+mj-ea"/>
                <a:cs typeface="+mj-cs"/>
              </a:rPr>
              <a:t>DRAFT BLUEPRINTS</a:t>
            </a:r>
            <a:endParaRPr lang="en-US" sz="1100" dirty="0"/>
          </a:p>
        </p:txBody>
      </p:sp>
      <p:sp>
        <p:nvSpPr>
          <p:cNvPr id="52" name="Text Placeholder 31">
            <a:extLst>
              <a:ext uri="{FF2B5EF4-FFF2-40B4-BE49-F238E27FC236}">
                <a16:creationId xmlns:a16="http://schemas.microsoft.com/office/drawing/2014/main" id="{EFC30FAC-E9E5-427E-B670-7978BE575652}"/>
              </a:ext>
            </a:extLst>
          </p:cNvPr>
          <p:cNvSpPr txBox="1">
            <a:spLocks/>
          </p:cNvSpPr>
          <p:nvPr/>
        </p:nvSpPr>
        <p:spPr>
          <a:xfrm>
            <a:off x="5190031" y="2218613"/>
            <a:ext cx="2057804" cy="5619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1400" spc="150" dirty="0">
                <a:latin typeface="+mj-lt"/>
                <a:ea typeface="+mj-ea"/>
                <a:cs typeface="+mj-cs"/>
              </a:rPr>
              <a:t>GATHER FEEDBACK</a:t>
            </a:r>
            <a:endParaRPr lang="en-US" sz="1100" dirty="0"/>
          </a:p>
        </p:txBody>
      </p:sp>
      <p:sp>
        <p:nvSpPr>
          <p:cNvPr id="54" name="Text Placeholder 31">
            <a:extLst>
              <a:ext uri="{FF2B5EF4-FFF2-40B4-BE49-F238E27FC236}">
                <a16:creationId xmlns:a16="http://schemas.microsoft.com/office/drawing/2014/main" id="{E0CD2DAB-9E42-4D11-A98D-56ECD20DBC7E}"/>
              </a:ext>
            </a:extLst>
          </p:cNvPr>
          <p:cNvSpPr txBox="1">
            <a:spLocks/>
          </p:cNvSpPr>
          <p:nvPr/>
        </p:nvSpPr>
        <p:spPr>
          <a:xfrm>
            <a:off x="9121117" y="2222398"/>
            <a:ext cx="2057804" cy="5619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1400" spc="150" dirty="0">
                <a:latin typeface="+mj-lt"/>
                <a:ea typeface="+mj-ea"/>
                <a:cs typeface="+mj-cs"/>
              </a:rPr>
              <a:t>DELIVER TO CLIENT</a:t>
            </a:r>
            <a:endParaRPr lang="en-US" sz="11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6861FF3-B902-4DEC-B46D-0F2E499C51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14399" y="3354712"/>
            <a:ext cx="731520" cy="457200"/>
          </a:xfrm>
        </p:spPr>
        <p:txBody>
          <a:bodyPr>
            <a:normAutofit/>
          </a:bodyPr>
          <a:lstStyle/>
          <a:p>
            <a:r>
              <a:rPr lang="en-US" dirty="0"/>
              <a:t>20XX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5941AA2-C85B-41A7-9264-A0C66F32930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965960" y="3502152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JAN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C4BD3D3-C7A9-46F1-8ED8-AB8D1BB8926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2753880" y="3502152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FEB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73EDDDB-6509-4407-BA35-232AAF9F198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541800" y="3502152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MAR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33A061F-AC2A-4E3F-B448-DC6FEC307A5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329720" y="3502152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APR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AC81818-8260-4E49-9FCC-569FDE30B0B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117640" y="3502152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MAY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1FD068B-6917-4C40-B40D-5F7B670EA7B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905560" y="3502152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JUN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E71AD-30AF-4021-B577-B686EC6DA329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693480" y="3502152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JUL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8E5FFBE-125E-43C8-A66E-DE8D2FE7AF3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481400" y="3502152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AUG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209F81D-5EC6-4D97-B0C2-AC00081AB1A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269320" y="3502152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SEP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A477EE3-A17C-4158-91E8-03A401BE96C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057240" y="3502152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OCT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477818B-3CAB-4A39-939D-99E98D2EE68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845160" y="3502152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NOV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7907FC8-DAAF-4896-A2B1-C173BF2FAE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633085" y="3502152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DEC</a:t>
            </a:r>
          </a:p>
        </p:txBody>
      </p:sp>
      <p:sp>
        <p:nvSpPr>
          <p:cNvPr id="11" name="Year">
            <a:extLst>
              <a:ext uri="{FF2B5EF4-FFF2-40B4-BE49-F238E27FC236}">
                <a16:creationId xmlns:a16="http://schemas.microsoft.com/office/drawing/2014/main" id="{44D29552-2F85-4F4F-9B7F-B79798681FB6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14400" y="4292468"/>
            <a:ext cx="731520" cy="457200"/>
          </a:xfrm>
        </p:spPr>
        <p:txBody>
          <a:bodyPr>
            <a:normAutofit/>
          </a:bodyPr>
          <a:lstStyle/>
          <a:p>
            <a:r>
              <a:rPr lang="en-US" dirty="0"/>
              <a:t>20XX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EC65619-A68A-4D21-9D17-40F8692EF19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69915" y="4425696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JAN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9C4CCA5-A2BE-4897-994D-9B1669D69FD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757602" y="4425696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FEB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C5FD452-DC3E-4D62-B19B-0A79E604A8A8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3545289" y="4425696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MAR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96D290B2-F312-4D9A-96C7-D40523406AC5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332976" y="4425696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APR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0E52477-0BA9-471B-B2C2-F1A03FCF188F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120663" y="4425696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MAY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70D1D022-03FA-47E6-8430-252C6D5B4C4E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908350" y="4425696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JUN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FA7483FC-7290-41B1-B371-ECA1174519DE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6696037" y="4425696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JUL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49E385-DCE9-4DC9-8F0A-F8BAF02D9797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7483724" y="4425696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AUG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B7A506EE-32D5-4685-97A6-8FDFEF238C43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8271411" y="4425696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SEP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1787EDAC-5EAB-4A0D-9BD2-D6E9FD0B26A1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9059098" y="4425696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OCT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E80CB353-63CA-4305-9748-807B6905DBFF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9846785" y="4425696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NOV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B52C010-5159-4F61-821F-E73647E7C066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10634472" y="4425696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DEC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AAE5EC1-092E-4A01-B866-C63F654AC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33" idx="0"/>
          </p:cNvCxnSpPr>
          <p:nvPr/>
        </p:nvCxnSpPr>
        <p:spPr>
          <a:xfrm>
            <a:off x="3073920" y="2904543"/>
            <a:ext cx="3722" cy="53340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44DC497-37D3-454C-98C5-A4A1043E55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34" idx="0"/>
          </p:cNvCxnSpPr>
          <p:nvPr/>
        </p:nvCxnSpPr>
        <p:spPr>
          <a:xfrm>
            <a:off x="6218933" y="2901831"/>
            <a:ext cx="6667" cy="538024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F3C6EDC-B2DD-42F0-911D-04963A0F20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35" idx="0"/>
          </p:cNvCxnSpPr>
          <p:nvPr/>
        </p:nvCxnSpPr>
        <p:spPr>
          <a:xfrm>
            <a:off x="10150019" y="2905616"/>
            <a:ext cx="0" cy="532327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3FBB4508-2CA6-4A49-9EAD-91DB1B205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14179" y="3437943"/>
            <a:ext cx="526925" cy="27492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8989049-2208-43EB-A323-1B5374E0A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62137" y="3439855"/>
            <a:ext cx="526925" cy="27492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3093EB5-1D82-4E0B-A4EF-8517FC047E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86556" y="3437943"/>
            <a:ext cx="526925" cy="27492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Text Placeholder 31">
            <a:extLst>
              <a:ext uri="{FF2B5EF4-FFF2-40B4-BE49-F238E27FC236}">
                <a16:creationId xmlns:a16="http://schemas.microsoft.com/office/drawing/2014/main" id="{6E8FAB27-F000-4DFF-8595-B8ADBB6058E9}"/>
              </a:ext>
            </a:extLst>
          </p:cNvPr>
          <p:cNvSpPr txBox="1">
            <a:spLocks/>
          </p:cNvSpPr>
          <p:nvPr/>
        </p:nvSpPr>
        <p:spPr>
          <a:xfrm>
            <a:off x="1259117" y="5206365"/>
            <a:ext cx="2057804" cy="5619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1400" spc="150" dirty="0">
                <a:latin typeface="+mj-lt"/>
                <a:ea typeface="+mj-ea"/>
                <a:cs typeface="+mj-cs"/>
              </a:rPr>
              <a:t>RUN FOCUS GROUPS</a:t>
            </a:r>
            <a:endParaRPr lang="en-US" sz="1100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C8EDAF4-CF26-40C7-AACE-2482D9323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48" idx="2"/>
          </p:cNvCxnSpPr>
          <p:nvPr/>
        </p:nvCxnSpPr>
        <p:spPr>
          <a:xfrm>
            <a:off x="2286000" y="4638776"/>
            <a:ext cx="2019" cy="537881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 Placeholder 31">
            <a:extLst>
              <a:ext uri="{FF2B5EF4-FFF2-40B4-BE49-F238E27FC236}">
                <a16:creationId xmlns:a16="http://schemas.microsoft.com/office/drawing/2014/main" id="{234079D9-E00C-4C6B-9F2D-D0BCB9C9D7D8}"/>
              </a:ext>
            </a:extLst>
          </p:cNvPr>
          <p:cNvSpPr txBox="1">
            <a:spLocks/>
          </p:cNvSpPr>
          <p:nvPr/>
        </p:nvSpPr>
        <p:spPr>
          <a:xfrm>
            <a:off x="4406652" y="5206365"/>
            <a:ext cx="2057804" cy="561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1400" spc="150" dirty="0">
                <a:latin typeface="+mj-lt"/>
                <a:ea typeface="+mj-ea"/>
                <a:cs typeface="+mj-cs"/>
              </a:rPr>
              <a:t>TEST DESIGN</a:t>
            </a:r>
            <a:endParaRPr lang="en-US" sz="1100" dirty="0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8C93671-1250-4705-A092-97036B9012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51" idx="2"/>
          </p:cNvCxnSpPr>
          <p:nvPr/>
        </p:nvCxnSpPr>
        <p:spPr>
          <a:xfrm>
            <a:off x="5434293" y="4638776"/>
            <a:ext cx="1261" cy="537881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 Placeholder 31">
            <a:extLst>
              <a:ext uri="{FF2B5EF4-FFF2-40B4-BE49-F238E27FC236}">
                <a16:creationId xmlns:a16="http://schemas.microsoft.com/office/drawing/2014/main" id="{7C5F4630-959D-43D6-A6F0-5D5F3A4117C1}"/>
              </a:ext>
            </a:extLst>
          </p:cNvPr>
          <p:cNvSpPr txBox="1">
            <a:spLocks/>
          </p:cNvSpPr>
          <p:nvPr/>
        </p:nvSpPr>
        <p:spPr>
          <a:xfrm>
            <a:off x="7581698" y="5206365"/>
            <a:ext cx="2057804" cy="561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1400" spc="150" dirty="0">
                <a:latin typeface="+mj-lt"/>
                <a:ea typeface="+mj-ea"/>
                <a:cs typeface="+mj-cs"/>
              </a:rPr>
              <a:t>LAUNCH DESIGN</a:t>
            </a:r>
            <a:endParaRPr lang="en-US" sz="1100" dirty="0"/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6C72AC5-2842-4966-BBE7-6F407A9C3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8591938" y="4638776"/>
            <a:ext cx="0" cy="537881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1DC26F87-2877-496A-B506-6A562ACD9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22537" y="4363848"/>
            <a:ext cx="526925" cy="27492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4959EA3-B71F-49E3-A68E-1329BE046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0830" y="4363848"/>
            <a:ext cx="526925" cy="27492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82DCB52-65FA-4B5F-8785-060AF61C3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28475" y="4363848"/>
            <a:ext cx="526925" cy="27492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Date Placeholder 65">
            <a:extLst>
              <a:ext uri="{FF2B5EF4-FFF2-40B4-BE49-F238E27FC236}">
                <a16:creationId xmlns:a16="http://schemas.microsoft.com/office/drawing/2014/main" id="{FF303B66-BE3D-4142-824A-9EE2B01725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35BD6B-402B-4987-9FCE-9A6924EE2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9ECD5-0EAD-48D0-B30B-16305BC10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9720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1B29E87-9C2C-400B-834D-4E4BD6E94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FINANCIALS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3B6BDC-0568-466F-91ED-52067B366C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A559BE-816C-475D-9ADA-DDFDF14A4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597536-70D1-46C0-A2A2-51A6BB21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18</a:t>
            </a:fld>
            <a:endParaRPr lang="en-US" dirty="0"/>
          </a:p>
        </p:txBody>
      </p:sp>
      <p:graphicFrame>
        <p:nvGraphicFramePr>
          <p:cNvPr id="17" name="Table 9">
            <a:extLst>
              <a:ext uri="{FF2B5EF4-FFF2-40B4-BE49-F238E27FC236}">
                <a16:creationId xmlns:a16="http://schemas.microsoft.com/office/drawing/2014/main" id="{D6E90A56-AF21-45DC-A08C-27875260C7CB}"/>
              </a:ext>
            </a:extLst>
          </p:cNvPr>
          <p:cNvGraphicFramePr>
            <a:graphicFrameLocks noGrp="1"/>
          </p:cNvGraphicFramePr>
          <p:nvPr>
            <p:ph sz="quarter" idx="16"/>
            <p:extLst>
              <p:ext uri="{D42A27DB-BD31-4B8C-83A1-F6EECF244321}">
                <p14:modId xmlns:p14="http://schemas.microsoft.com/office/powerpoint/2010/main" val="1922015435"/>
              </p:ext>
            </p:extLst>
          </p:nvPr>
        </p:nvGraphicFramePr>
        <p:xfrm>
          <a:off x="838200" y="1825625"/>
          <a:ext cx="10515596" cy="37011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5076">
                  <a:extLst>
                    <a:ext uri="{9D8B030D-6E8A-4147-A177-3AD203B41FA5}">
                      <a16:colId xmlns:a16="http://schemas.microsoft.com/office/drawing/2014/main" val="3446012419"/>
                    </a:ext>
                  </a:extLst>
                </a:gridCol>
                <a:gridCol w="1717424">
                  <a:extLst>
                    <a:ext uri="{9D8B030D-6E8A-4147-A177-3AD203B41FA5}">
                      <a16:colId xmlns:a16="http://schemas.microsoft.com/office/drawing/2014/main" val="4052646397"/>
                    </a:ext>
                  </a:extLst>
                </a:gridCol>
                <a:gridCol w="2118664">
                  <a:extLst>
                    <a:ext uri="{9D8B030D-6E8A-4147-A177-3AD203B41FA5}">
                      <a16:colId xmlns:a16="http://schemas.microsoft.com/office/drawing/2014/main" val="1935352797"/>
                    </a:ext>
                  </a:extLst>
                </a:gridCol>
                <a:gridCol w="2277791">
                  <a:extLst>
                    <a:ext uri="{9D8B030D-6E8A-4147-A177-3AD203B41FA5}">
                      <a16:colId xmlns:a16="http://schemas.microsoft.com/office/drawing/2014/main" val="1218263486"/>
                    </a:ext>
                  </a:extLst>
                </a:gridCol>
                <a:gridCol w="1166641">
                  <a:extLst>
                    <a:ext uri="{9D8B030D-6E8A-4147-A177-3AD203B41FA5}">
                      <a16:colId xmlns:a16="http://schemas.microsoft.com/office/drawing/2014/main" val="3235153012"/>
                    </a:ext>
                  </a:extLst>
                </a:gridCol>
              </a:tblGrid>
              <a:tr h="28470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24019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Year 1</a:t>
                      </a:r>
                      <a:endParaRPr lang="en-US" sz="12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Year 2</a:t>
                      </a:r>
                      <a:endParaRPr lang="en-US" sz="12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Year 3</a:t>
                      </a:r>
                      <a:endParaRPr lang="en-US" sz="12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0773105"/>
                  </a:ext>
                </a:extLst>
              </a:tr>
              <a:tr h="284706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INCOME</a:t>
                      </a:r>
                    </a:p>
                  </a:txBody>
                  <a:tcPr marL="24019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2911372"/>
                  </a:ext>
                </a:extLst>
              </a:tr>
              <a:tr h="284706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2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Users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4019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50,000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400,000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1,600,000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3393929"/>
                  </a:ext>
                </a:extLst>
              </a:tr>
              <a:tr h="284706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2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Sales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4019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500,000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4,000,000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16,000,000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711469"/>
                  </a:ext>
                </a:extLst>
              </a:tr>
              <a:tr h="284706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2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Average price per sale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4019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75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80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90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8944196"/>
                  </a:ext>
                </a:extLst>
              </a:tr>
              <a:tr h="284706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2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Revenue @ 15%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4019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5,625,000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48,000,000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216,000,000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1606819"/>
                  </a:ext>
                </a:extLst>
              </a:tr>
              <a:tr h="284706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GROSS PROFIT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4019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5,625,000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48,000,000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216,000,000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120011"/>
                  </a:ext>
                </a:extLst>
              </a:tr>
              <a:tr h="284706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Expenses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4019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1422160"/>
                  </a:ext>
                </a:extLst>
              </a:tr>
              <a:tr h="284706">
                <a:tc>
                  <a:txBody>
                    <a:bodyPr/>
                    <a:lstStyle/>
                    <a:p>
                      <a:pPr marL="457200" lvl="1" indent="0" algn="l" fontAlgn="b">
                        <a:buFont typeface="Arial" panose="020B0604020202020204" pitchFamily="34" charset="0"/>
                        <a:buNone/>
                      </a:pPr>
                      <a:r>
                        <a:rPr lang="en-US" sz="12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Sales &amp; marketing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4019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5,062,500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38,400,000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151,200,000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70%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2407092"/>
                  </a:ext>
                </a:extLst>
              </a:tr>
              <a:tr h="284706">
                <a:tc>
                  <a:txBody>
                    <a:bodyPr/>
                    <a:lstStyle/>
                    <a:p>
                      <a:pPr marL="457200" lvl="1" indent="0" algn="l" fontAlgn="b">
                        <a:buFont typeface="Arial" panose="020B0604020202020204" pitchFamily="34" charset="0"/>
                        <a:buNone/>
                      </a:pPr>
                      <a:r>
                        <a:rPr lang="en-US" sz="12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Customer service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4019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1,687,500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9,600,000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21,600,000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10%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6368409"/>
                  </a:ext>
                </a:extLst>
              </a:tr>
              <a:tr h="284706">
                <a:tc>
                  <a:txBody>
                    <a:bodyPr/>
                    <a:lstStyle/>
                    <a:p>
                      <a:pPr marL="457200" lvl="1" indent="0" algn="l" fontAlgn="b">
                        <a:buFont typeface="Arial" panose="020B0604020202020204" pitchFamily="34" charset="0"/>
                        <a:buNone/>
                      </a:pPr>
                      <a:r>
                        <a:rPr lang="en-US" sz="12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Product development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4019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562,500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2,400,000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10,800,000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5%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9688327"/>
                  </a:ext>
                </a:extLst>
              </a:tr>
              <a:tr h="284706">
                <a:tc>
                  <a:txBody>
                    <a:bodyPr/>
                    <a:lstStyle/>
                    <a:p>
                      <a:pPr marL="457200" lvl="1" indent="0" algn="l" fontAlgn="b">
                        <a:buFont typeface="Arial" panose="020B0604020202020204" pitchFamily="34" charset="0"/>
                        <a:buNone/>
                      </a:pPr>
                      <a:r>
                        <a:rPr lang="en-US" sz="12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Research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4019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281,250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2,400,000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4,320,000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2%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3433075"/>
                  </a:ext>
                </a:extLst>
              </a:tr>
              <a:tr h="284706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TOTAL EXPENSES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4019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7,593,750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52,800,000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187,920,000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1456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69975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6F7BB-30A8-4980-AD4A-2FB0B53FA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/>
          <a:lstStyle/>
          <a:p>
            <a:r>
              <a:rPr lang="en-US" dirty="0"/>
              <a:t>MEET THE TEAM</a:t>
            </a:r>
          </a:p>
        </p:txBody>
      </p:sp>
      <p:pic>
        <p:nvPicPr>
          <p:cNvPr id="26" name="Picture Placeholder 25" descr="Team member headshot">
            <a:extLst>
              <a:ext uri="{FF2B5EF4-FFF2-40B4-BE49-F238E27FC236}">
                <a16:creationId xmlns:a16="http://schemas.microsoft.com/office/drawing/2014/main" id="{E287A61C-B7FB-4B69-97E7-7B7AFC8A5D3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87181" y="2886074"/>
            <a:ext cx="1845511" cy="1845511"/>
          </a:xfrm>
        </p:spPr>
      </p:pic>
      <p:pic>
        <p:nvPicPr>
          <p:cNvPr id="47" name="Picture Placeholder 46" descr="Team member headshot">
            <a:extLst>
              <a:ext uri="{FF2B5EF4-FFF2-40B4-BE49-F238E27FC236}">
                <a16:creationId xmlns:a16="http://schemas.microsoft.com/office/drawing/2014/main" id="{8AF5260A-2860-4F88-BA4D-70530D3E14AA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36914" y="2886074"/>
            <a:ext cx="1845511" cy="1845511"/>
          </a:xfrm>
        </p:spPr>
      </p:pic>
      <p:pic>
        <p:nvPicPr>
          <p:cNvPr id="45" name="Picture Placeholder 44" descr="Team member headshot">
            <a:extLst>
              <a:ext uri="{FF2B5EF4-FFF2-40B4-BE49-F238E27FC236}">
                <a16:creationId xmlns:a16="http://schemas.microsoft.com/office/drawing/2014/main" id="{4442FA67-BF04-4E45-BFD9-78BF43789E09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27578" y="2886074"/>
            <a:ext cx="1845511" cy="1845511"/>
          </a:xfrm>
        </p:spPr>
      </p:pic>
      <p:pic>
        <p:nvPicPr>
          <p:cNvPr id="43" name="Picture Placeholder 42" descr="Team member headshot">
            <a:extLst>
              <a:ext uri="{FF2B5EF4-FFF2-40B4-BE49-F238E27FC236}">
                <a16:creationId xmlns:a16="http://schemas.microsoft.com/office/drawing/2014/main" id="{F328CD15-EA0E-49AD-A3C6-5798A372AA53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47458" y="2886074"/>
            <a:ext cx="1845511" cy="1845511"/>
          </a:xfrm>
        </p:spPr>
      </p:pic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BAD1FFF-8B97-4CD1-85E7-B7738EAD28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43248" y="5084524"/>
            <a:ext cx="2123743" cy="343061"/>
          </a:xfrm>
        </p:spPr>
        <p:txBody>
          <a:bodyPr/>
          <a:lstStyle/>
          <a:p>
            <a:r>
              <a:rPr lang="en-US" dirty="0"/>
              <a:t>TAKUMA HAYASHI​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10C8C8C1-99D8-4034-A628-DECEB703BA1D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692980" y="5099206"/>
            <a:ext cx="2135755" cy="343061"/>
          </a:xfrm>
        </p:spPr>
        <p:txBody>
          <a:bodyPr/>
          <a:lstStyle/>
          <a:p>
            <a:r>
              <a:rPr lang="en-US" dirty="0"/>
              <a:t>MIRJAM NILSSON​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08CA58D6-00FD-4D81-A0F6-215C4D558912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183644" y="5099206"/>
            <a:ext cx="2123743" cy="343061"/>
          </a:xfrm>
        </p:spPr>
        <p:txBody>
          <a:bodyPr/>
          <a:lstStyle/>
          <a:p>
            <a:r>
              <a:rPr lang="en-US" dirty="0"/>
              <a:t>FLORA BERGGREN​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60D37431-6A3A-47F6-A367-B5ADCF66AE37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8603525" y="5084524"/>
            <a:ext cx="2123742" cy="343061"/>
          </a:xfrm>
        </p:spPr>
        <p:txBody>
          <a:bodyPr/>
          <a:lstStyle/>
          <a:p>
            <a:r>
              <a:rPr lang="en-US" dirty="0"/>
              <a:t>RAJESH SANTOSHI​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B76FA389-A54D-4E4B-81DA-DBA175D78FEC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1487181" y="5464114"/>
            <a:ext cx="1845511" cy="343061"/>
          </a:xfrm>
        </p:spPr>
        <p:txBody>
          <a:bodyPr/>
          <a:lstStyle/>
          <a:p>
            <a:r>
              <a:rPr lang="en-US" dirty="0"/>
              <a:t>President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65786675-BFC6-4743-BFD3-D64691F771D8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3836913" y="5478796"/>
            <a:ext cx="1855949" cy="343061"/>
          </a:xfrm>
        </p:spPr>
        <p:txBody>
          <a:bodyPr/>
          <a:lstStyle/>
          <a:p>
            <a:r>
              <a:rPr lang="en-US" dirty="0"/>
              <a:t>Chief Executive Officer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97062F49-F468-4EA6-B6BF-94BFF89FDCB7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6327577" y="5478796"/>
            <a:ext cx="1845511" cy="343061"/>
          </a:xfrm>
        </p:spPr>
        <p:txBody>
          <a:bodyPr/>
          <a:lstStyle/>
          <a:p>
            <a:r>
              <a:rPr lang="en-US" dirty="0"/>
              <a:t>Chief Operations Officer</a:t>
            </a:r>
          </a:p>
          <a:p>
            <a:endParaRPr lang="en-US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59D9F00A-8CF0-41E8-9BB6-3B8ECDA55D49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8747458" y="5464114"/>
            <a:ext cx="1845510" cy="343061"/>
          </a:xfrm>
        </p:spPr>
        <p:txBody>
          <a:bodyPr/>
          <a:lstStyle/>
          <a:p>
            <a:r>
              <a:rPr lang="en-US" dirty="0"/>
              <a:t>VP Marketing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F9CC1F-102C-49CC-B646-8E6826368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808A03-6EC3-48BE-9D18-5A746D092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868410-BE8A-4C98-9C72-20D0A2A6A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4530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6F7BB-30A8-4980-AD4A-2FB0B53FA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/>
          <a:lstStyle/>
          <a:p>
            <a:r>
              <a:rPr lang="en-US" dirty="0"/>
              <a:t>MEET THE TEAM  </a:t>
            </a:r>
          </a:p>
        </p:txBody>
      </p:sp>
      <p:pic>
        <p:nvPicPr>
          <p:cNvPr id="38" name="Picture Placeholder 37" descr="Team member headshot">
            <a:extLst>
              <a:ext uri="{FF2B5EF4-FFF2-40B4-BE49-F238E27FC236}">
                <a16:creationId xmlns:a16="http://schemas.microsoft.com/office/drawing/2014/main" id="{6E64DC71-C9CE-47FF-A3B6-597A9B09EC98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77176" y="2428875"/>
            <a:ext cx="1066800" cy="1066800"/>
          </a:xfrm>
        </p:spPr>
      </p:pic>
      <p:pic>
        <p:nvPicPr>
          <p:cNvPr id="42" name="Picture Placeholder 41" descr="Team member headshot">
            <a:extLst>
              <a:ext uri="{FF2B5EF4-FFF2-40B4-BE49-F238E27FC236}">
                <a16:creationId xmlns:a16="http://schemas.microsoft.com/office/drawing/2014/main" id="{03BE9C30-CAE7-4AE5-8722-B20E200AC048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26270" y="2428875"/>
            <a:ext cx="1066800" cy="1066800"/>
          </a:xfrm>
        </p:spPr>
      </p:pic>
      <p:pic>
        <p:nvPicPr>
          <p:cNvPr id="46" name="Picture Placeholder 45" descr="Team member headshot">
            <a:extLst>
              <a:ext uri="{FF2B5EF4-FFF2-40B4-BE49-F238E27FC236}">
                <a16:creationId xmlns:a16="http://schemas.microsoft.com/office/drawing/2014/main" id="{F8B9EE09-9F4E-47F5-82E5-A135C37A6E26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16934" y="2428875"/>
            <a:ext cx="1066800" cy="1066800"/>
          </a:xfrm>
        </p:spPr>
      </p:pic>
      <p:pic>
        <p:nvPicPr>
          <p:cNvPr id="54" name="Picture Placeholder 53" descr="Team member headshot">
            <a:extLst>
              <a:ext uri="{FF2B5EF4-FFF2-40B4-BE49-F238E27FC236}">
                <a16:creationId xmlns:a16="http://schemas.microsoft.com/office/drawing/2014/main" id="{B789A13E-52C8-4E94-89B2-D51A0739F00A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6814" y="2428875"/>
            <a:ext cx="1066800" cy="1066800"/>
          </a:xfrm>
        </p:spPr>
      </p:pic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23BA8AAF-B08B-441B-AAF3-590A56832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00168" y="3654378"/>
            <a:ext cx="1828800" cy="343061"/>
          </a:xfrm>
        </p:spPr>
        <p:txBody>
          <a:bodyPr/>
          <a:lstStyle/>
          <a:p>
            <a:r>
              <a:rPr lang="en-US" dirty="0"/>
              <a:t>TAKUMA HAYASHI</a:t>
            </a:r>
          </a:p>
          <a:p>
            <a:endParaRPr lang="en-US" dirty="0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E07741A2-243F-4086-945C-BCA1F24E6DB5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1390120" y="3782039"/>
            <a:ext cx="2057400" cy="343061"/>
          </a:xfrm>
        </p:spPr>
        <p:txBody>
          <a:bodyPr/>
          <a:lstStyle/>
          <a:p>
            <a:r>
              <a:rPr lang="en-US" dirty="0"/>
              <a:t>President</a:t>
            </a: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27CB5CB7-B854-4F48-954C-5CF86CC9146D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849262" y="3669060"/>
            <a:ext cx="1828800" cy="343061"/>
          </a:xfrm>
        </p:spPr>
        <p:txBody>
          <a:bodyPr/>
          <a:lstStyle/>
          <a:p>
            <a:r>
              <a:rPr lang="en-US" dirty="0"/>
              <a:t>MIRJAM NILSSON​</a:t>
            </a:r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F1C860E6-FF87-419F-8B26-B8EA4D5F3D3D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3739214" y="3796721"/>
            <a:ext cx="2057400" cy="343061"/>
          </a:xfrm>
        </p:spPr>
        <p:txBody>
          <a:bodyPr/>
          <a:lstStyle/>
          <a:p>
            <a:r>
              <a:rPr lang="en-US" dirty="0"/>
              <a:t>Chief Executive Officer</a:t>
            </a:r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540F887C-E8EB-4467-90FE-023D47FFB454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339926" y="3669060"/>
            <a:ext cx="1828800" cy="343061"/>
          </a:xfrm>
        </p:spPr>
        <p:txBody>
          <a:bodyPr/>
          <a:lstStyle/>
          <a:p>
            <a:r>
              <a:rPr lang="en-US" dirty="0"/>
              <a:t>FLORA BERGGREN​</a:t>
            </a:r>
          </a:p>
          <a:p>
            <a:endParaRPr lang="en-US" dirty="0"/>
          </a:p>
        </p:txBody>
      </p: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F1AF6C54-9939-432B-BBC2-5E0C0F8B2D8C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6217963" y="3796721"/>
            <a:ext cx="2057400" cy="343061"/>
          </a:xfrm>
        </p:spPr>
        <p:txBody>
          <a:bodyPr/>
          <a:lstStyle/>
          <a:p>
            <a:r>
              <a:rPr lang="en-US" dirty="0"/>
              <a:t>Chief Operations Officer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C1C77C5B-2A5F-4999-A5BF-F60EA88DE493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8759806" y="3654378"/>
            <a:ext cx="1828800" cy="343061"/>
          </a:xfrm>
        </p:spPr>
        <p:txBody>
          <a:bodyPr/>
          <a:lstStyle/>
          <a:p>
            <a:r>
              <a:rPr lang="en-US" dirty="0"/>
              <a:t>RAJESH SANTOSHI</a:t>
            </a: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41797063-0A46-4FCE-86CB-FC66F997C5F4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8634432" y="3782039"/>
            <a:ext cx="2057400" cy="343061"/>
          </a:xfrm>
        </p:spPr>
        <p:txBody>
          <a:bodyPr/>
          <a:lstStyle/>
          <a:p>
            <a:r>
              <a:rPr lang="en-US" dirty="0"/>
              <a:t>VP Marketing</a:t>
            </a:r>
          </a:p>
        </p:txBody>
      </p:sp>
      <p:pic>
        <p:nvPicPr>
          <p:cNvPr id="58" name="Picture Placeholder 57" descr="Team member headshot">
            <a:extLst>
              <a:ext uri="{FF2B5EF4-FFF2-40B4-BE49-F238E27FC236}">
                <a16:creationId xmlns:a16="http://schemas.microsoft.com/office/drawing/2014/main" id="{67F12A1B-1645-4C97-AE80-CC96C4998E2E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77176" y="4287711"/>
            <a:ext cx="1066800" cy="1066800"/>
          </a:xfrm>
        </p:spPr>
      </p:pic>
      <p:pic>
        <p:nvPicPr>
          <p:cNvPr id="66" name="Picture Placeholder 65" descr="Team member headshot">
            <a:extLst>
              <a:ext uri="{FF2B5EF4-FFF2-40B4-BE49-F238E27FC236}">
                <a16:creationId xmlns:a16="http://schemas.microsoft.com/office/drawing/2014/main" id="{448282B4-E477-4ECE-BC09-7EA9451D9AEE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26270" y="4287711"/>
            <a:ext cx="1066800" cy="1066800"/>
          </a:xfrm>
        </p:spPr>
      </p:pic>
      <p:pic>
        <p:nvPicPr>
          <p:cNvPr id="78" name="Picture Placeholder 77" descr="Team member headshot">
            <a:extLst>
              <a:ext uri="{FF2B5EF4-FFF2-40B4-BE49-F238E27FC236}">
                <a16:creationId xmlns:a16="http://schemas.microsoft.com/office/drawing/2014/main" id="{15824874-C00E-4835-97F0-43C416DDCACC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16934" y="4287711"/>
            <a:ext cx="1066800" cy="1066800"/>
          </a:xfrm>
        </p:spPr>
      </p:pic>
      <p:pic>
        <p:nvPicPr>
          <p:cNvPr id="83" name="Picture Placeholder 82" descr="Team member headshot">
            <a:extLst>
              <a:ext uri="{FF2B5EF4-FFF2-40B4-BE49-F238E27FC236}">
                <a16:creationId xmlns:a16="http://schemas.microsoft.com/office/drawing/2014/main" id="{96405252-7726-442E-9D15-755840A5AF27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6814" y="4287711"/>
            <a:ext cx="1066800" cy="1066800"/>
          </a:xfrm>
        </p:spPr>
      </p:pic>
      <p:sp>
        <p:nvSpPr>
          <p:cNvPr id="64" name="Text Placeholder 63">
            <a:extLst>
              <a:ext uri="{FF2B5EF4-FFF2-40B4-BE49-F238E27FC236}">
                <a16:creationId xmlns:a16="http://schemas.microsoft.com/office/drawing/2014/main" id="{3ECD1D6F-7DAE-4DCC-BBB4-CD519379CDF6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1500168" y="5513214"/>
            <a:ext cx="1828800" cy="343061"/>
          </a:xfrm>
        </p:spPr>
        <p:txBody>
          <a:bodyPr/>
          <a:lstStyle/>
          <a:p>
            <a:r>
              <a:rPr lang="en-US" dirty="0"/>
              <a:t>GRAHAM BARNES</a:t>
            </a:r>
          </a:p>
          <a:p>
            <a:endParaRPr lang="en-US" dirty="0"/>
          </a:p>
        </p:txBody>
      </p:sp>
      <p:sp>
        <p:nvSpPr>
          <p:cNvPr id="72" name="Text Placeholder 71">
            <a:extLst>
              <a:ext uri="{FF2B5EF4-FFF2-40B4-BE49-F238E27FC236}">
                <a16:creationId xmlns:a16="http://schemas.microsoft.com/office/drawing/2014/main" id="{0420E7B5-7D79-437C-BC6E-11C9C9C73D12}"/>
              </a:ext>
            </a:extLst>
          </p:cNvPr>
          <p:cNvSpPr>
            <a:spLocks noGrp="1"/>
          </p:cNvSpPr>
          <p:nvPr>
            <p:ph type="body" idx="33"/>
          </p:nvPr>
        </p:nvSpPr>
        <p:spPr>
          <a:xfrm>
            <a:off x="1390120" y="5640875"/>
            <a:ext cx="2057400" cy="343061"/>
          </a:xfrm>
        </p:spPr>
        <p:txBody>
          <a:bodyPr/>
          <a:lstStyle/>
          <a:p>
            <a:r>
              <a:rPr lang="en-US" dirty="0"/>
              <a:t>VP Product</a:t>
            </a:r>
          </a:p>
        </p:txBody>
      </p:sp>
      <p:sp>
        <p:nvSpPr>
          <p:cNvPr id="69" name="Text Placeholder 68">
            <a:extLst>
              <a:ext uri="{FF2B5EF4-FFF2-40B4-BE49-F238E27FC236}">
                <a16:creationId xmlns:a16="http://schemas.microsoft.com/office/drawing/2014/main" id="{A5A9CD8D-31A9-4139-87B2-349EA8E14781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3849262" y="5527896"/>
            <a:ext cx="1828800" cy="343061"/>
          </a:xfrm>
        </p:spPr>
        <p:txBody>
          <a:bodyPr/>
          <a:lstStyle/>
          <a:p>
            <a:r>
              <a:rPr lang="en-US" dirty="0"/>
              <a:t>ROWAN MURPHY</a:t>
            </a:r>
          </a:p>
          <a:p>
            <a:endParaRPr lang="en-US" dirty="0"/>
          </a:p>
        </p:txBody>
      </p:sp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E1FCDD58-01CD-47CF-AB15-A511E9D3612F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3739214" y="5655557"/>
            <a:ext cx="2057400" cy="343061"/>
          </a:xfrm>
        </p:spPr>
        <p:txBody>
          <a:bodyPr/>
          <a:lstStyle/>
          <a:p>
            <a:r>
              <a:rPr lang="en-US" dirty="0"/>
              <a:t>SEO Strategist</a:t>
            </a:r>
          </a:p>
        </p:txBody>
      </p:sp>
      <p:sp>
        <p:nvSpPr>
          <p:cNvPr id="70" name="Text Placeholder 69">
            <a:extLst>
              <a:ext uri="{FF2B5EF4-FFF2-40B4-BE49-F238E27FC236}">
                <a16:creationId xmlns:a16="http://schemas.microsoft.com/office/drawing/2014/main" id="{58753412-8033-48AD-80DF-945C72BC7335}"/>
              </a:ext>
            </a:extLst>
          </p:cNvPr>
          <p:cNvSpPr>
            <a:spLocks noGrp="1"/>
          </p:cNvSpPr>
          <p:nvPr>
            <p:ph type="body" idx="31"/>
          </p:nvPr>
        </p:nvSpPr>
        <p:spPr>
          <a:xfrm>
            <a:off x="6339926" y="5527896"/>
            <a:ext cx="1828800" cy="343061"/>
          </a:xfrm>
        </p:spPr>
        <p:txBody>
          <a:bodyPr/>
          <a:lstStyle/>
          <a:p>
            <a:r>
              <a:rPr lang="en-US" dirty="0"/>
              <a:t>ELIZABETH MOORE</a:t>
            </a:r>
          </a:p>
        </p:txBody>
      </p:sp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2E2604A9-4BB8-4144-914B-DCF4F13DF3DB}"/>
              </a:ext>
            </a:extLst>
          </p:cNvPr>
          <p:cNvSpPr>
            <a:spLocks noGrp="1"/>
          </p:cNvSpPr>
          <p:nvPr>
            <p:ph type="body" idx="35"/>
          </p:nvPr>
        </p:nvSpPr>
        <p:spPr>
          <a:xfrm>
            <a:off x="6229878" y="5655557"/>
            <a:ext cx="2057400" cy="343061"/>
          </a:xfrm>
        </p:spPr>
        <p:txBody>
          <a:bodyPr/>
          <a:lstStyle/>
          <a:p>
            <a:r>
              <a:rPr lang="en-US" dirty="0"/>
              <a:t>Product Designer</a:t>
            </a:r>
          </a:p>
        </p:txBody>
      </p:sp>
      <p:sp>
        <p:nvSpPr>
          <p:cNvPr id="71" name="Text Placeholder 70">
            <a:extLst>
              <a:ext uri="{FF2B5EF4-FFF2-40B4-BE49-F238E27FC236}">
                <a16:creationId xmlns:a16="http://schemas.microsoft.com/office/drawing/2014/main" id="{A45FE9A3-15E0-49FA-B6E5-DB16CD0C2C8F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8759806" y="5513214"/>
            <a:ext cx="1828800" cy="343061"/>
          </a:xfrm>
        </p:spPr>
        <p:txBody>
          <a:bodyPr/>
          <a:lstStyle/>
          <a:p>
            <a:r>
              <a:rPr lang="en-US" dirty="0"/>
              <a:t>ROBIN KLINE</a:t>
            </a:r>
          </a:p>
        </p:txBody>
      </p:sp>
      <p:sp>
        <p:nvSpPr>
          <p:cNvPr id="75" name="Text Placeholder 74">
            <a:extLst>
              <a:ext uri="{FF2B5EF4-FFF2-40B4-BE49-F238E27FC236}">
                <a16:creationId xmlns:a16="http://schemas.microsoft.com/office/drawing/2014/main" id="{72076C4D-9688-4C1A-AB51-8F1051A803A9}"/>
              </a:ext>
            </a:extLst>
          </p:cNvPr>
          <p:cNvSpPr>
            <a:spLocks noGrp="1"/>
          </p:cNvSpPr>
          <p:nvPr>
            <p:ph type="body" idx="36"/>
          </p:nvPr>
        </p:nvSpPr>
        <p:spPr>
          <a:xfrm>
            <a:off x="8634432" y="5640875"/>
            <a:ext cx="2057400" cy="343061"/>
          </a:xfrm>
        </p:spPr>
        <p:txBody>
          <a:bodyPr/>
          <a:lstStyle/>
          <a:p>
            <a:r>
              <a:rPr lang="en-US" dirty="0"/>
              <a:t>Content Developer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33164A-09D8-4E05-899E-C830A562A4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EB4DEA-4DCD-421C-A905-7EFCAE898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1923C7-5010-4C4F-A932-4BDA0B62A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2667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BF33B-5572-4A00-A55C-1E13A6B3A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/>
          <a:lstStyle/>
          <a:p>
            <a:r>
              <a:rPr lang="en-US" dirty="0"/>
              <a:t>FUNDING</a:t>
            </a:r>
          </a:p>
        </p:txBody>
      </p:sp>
      <p:graphicFrame>
        <p:nvGraphicFramePr>
          <p:cNvPr id="58" name="Content Placeholder 57" title="Funding Chart">
            <a:extLst>
              <a:ext uri="{FF2B5EF4-FFF2-40B4-BE49-F238E27FC236}">
                <a16:creationId xmlns:a16="http://schemas.microsoft.com/office/drawing/2014/main" id="{0231F8BC-AEBA-4843-9F73-E06265724EAB}"/>
              </a:ext>
            </a:extLst>
          </p:cNvPr>
          <p:cNvGraphicFramePr>
            <a:graphicFrameLocks noGrp="1"/>
          </p:cNvGraphicFramePr>
          <p:nvPr>
            <p:ph sz="quarter" idx="21"/>
            <p:extLst>
              <p:ext uri="{D42A27DB-BD31-4B8C-83A1-F6EECF244321}">
                <p14:modId xmlns:p14="http://schemas.microsoft.com/office/powerpoint/2010/main" val="3157508600"/>
              </p:ext>
            </p:extLst>
          </p:nvPr>
        </p:nvGraphicFramePr>
        <p:xfrm>
          <a:off x="1074738" y="2370138"/>
          <a:ext cx="1857375" cy="16652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A4739B-8DE9-4523-8034-4E83861CC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788813"/>
            <a:ext cx="2330726" cy="804859"/>
          </a:xfrm>
        </p:spPr>
        <p:txBody>
          <a:bodyPr/>
          <a:lstStyle/>
          <a:p>
            <a:r>
              <a:rPr lang="en-US" dirty="0"/>
              <a:t>$14,000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487CCC0-D329-4C1F-A1CD-04930A23C5C3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838200" y="4464810"/>
            <a:ext cx="2330726" cy="438505"/>
          </a:xfrm>
        </p:spPr>
        <p:txBody>
          <a:bodyPr/>
          <a:lstStyle/>
          <a:p>
            <a:r>
              <a:rPr lang="en-US" dirty="0"/>
              <a:t>ANGEL INVESTMENTS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CF2BB3-1E12-4189-9F5F-EF136C62E3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/>
          <a:lstStyle/>
          <a:p>
            <a:r>
              <a:rPr lang="en-US" dirty="0"/>
              <a:t>Amount obtained through other investors</a:t>
            </a:r>
          </a:p>
        </p:txBody>
      </p:sp>
      <p:graphicFrame>
        <p:nvGraphicFramePr>
          <p:cNvPr id="59" name="Content Placeholder 58" title="Funding Chart">
            <a:extLst>
              <a:ext uri="{FF2B5EF4-FFF2-40B4-BE49-F238E27FC236}">
                <a16:creationId xmlns:a16="http://schemas.microsoft.com/office/drawing/2014/main" id="{AD7D64AB-F97A-41F1-B2E8-66B1E245043A}"/>
              </a:ext>
            </a:extLst>
          </p:cNvPr>
          <p:cNvGraphicFramePr>
            <a:graphicFrameLocks noGrp="1"/>
          </p:cNvGraphicFramePr>
          <p:nvPr>
            <p:ph sz="quarter" idx="22"/>
            <p:extLst>
              <p:ext uri="{D42A27DB-BD31-4B8C-83A1-F6EECF244321}">
                <p14:modId xmlns:p14="http://schemas.microsoft.com/office/powerpoint/2010/main" val="3021991828"/>
              </p:ext>
            </p:extLst>
          </p:nvPr>
        </p:nvGraphicFramePr>
        <p:xfrm>
          <a:off x="3805238" y="2370138"/>
          <a:ext cx="1857375" cy="16652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145D0E-892D-492B-8AD6-551CF27DD5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562665" y="3788813"/>
            <a:ext cx="2342205" cy="804859"/>
          </a:xfrm>
        </p:spPr>
        <p:txBody>
          <a:bodyPr/>
          <a:lstStyle/>
          <a:p>
            <a:r>
              <a:rPr lang="en-US" dirty="0"/>
              <a:t>$12,000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4E62770-EE0A-4D83-B50E-CD868056030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2665" y="4464810"/>
            <a:ext cx="2342205" cy="438505"/>
          </a:xfrm>
        </p:spPr>
        <p:txBody>
          <a:bodyPr/>
          <a:lstStyle/>
          <a:p>
            <a:r>
              <a:rPr lang="en-US" dirty="0"/>
              <a:t>PROPERTY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D3951E-8DE6-4BA9-B9BA-CFCDF43222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/>
          <a:lstStyle/>
          <a:p>
            <a:r>
              <a:rPr lang="en-US" dirty="0"/>
              <a:t>Revenue obtained from property rentals</a:t>
            </a:r>
          </a:p>
        </p:txBody>
      </p:sp>
      <p:graphicFrame>
        <p:nvGraphicFramePr>
          <p:cNvPr id="60" name="Content Placeholder 59" title="Funding Chart">
            <a:extLst>
              <a:ext uri="{FF2B5EF4-FFF2-40B4-BE49-F238E27FC236}">
                <a16:creationId xmlns:a16="http://schemas.microsoft.com/office/drawing/2014/main" id="{81BCDC44-04F0-4390-B965-A86C88176708}"/>
              </a:ext>
            </a:extLst>
          </p:cNvPr>
          <p:cNvGraphicFramePr>
            <a:graphicFrameLocks noGrp="1"/>
          </p:cNvGraphicFramePr>
          <p:nvPr>
            <p:ph sz="quarter" idx="23"/>
            <p:extLst>
              <p:ext uri="{D42A27DB-BD31-4B8C-83A1-F6EECF244321}">
                <p14:modId xmlns:p14="http://schemas.microsoft.com/office/powerpoint/2010/main" val="2350556506"/>
              </p:ext>
            </p:extLst>
          </p:nvPr>
        </p:nvGraphicFramePr>
        <p:xfrm>
          <a:off x="6529388" y="2370138"/>
          <a:ext cx="1857375" cy="16652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66E4F1A-AD73-4086-B578-235F0B9F1FC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298609" y="3788813"/>
            <a:ext cx="2330726" cy="804859"/>
          </a:xfrm>
        </p:spPr>
        <p:txBody>
          <a:bodyPr/>
          <a:lstStyle/>
          <a:p>
            <a:r>
              <a:rPr lang="en-US" dirty="0"/>
              <a:t>$82,000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AB421C5-B6AC-48B8-8AEB-AB16AAE5010E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298609" y="4464810"/>
            <a:ext cx="2330726" cy="438505"/>
          </a:xfrm>
        </p:spPr>
        <p:txBody>
          <a:bodyPr/>
          <a:lstStyle/>
          <a:p>
            <a:r>
              <a:rPr lang="en-US" dirty="0"/>
              <a:t>SHARES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45C82A0-3F56-47BD-9FB2-6B56DA715F9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/>
          <a:lstStyle/>
          <a:p>
            <a:r>
              <a:rPr lang="en-US" dirty="0"/>
              <a:t>Number of shares converted into USD</a:t>
            </a:r>
          </a:p>
          <a:p>
            <a:endParaRPr lang="en-US" noProof="1"/>
          </a:p>
        </p:txBody>
      </p:sp>
      <p:graphicFrame>
        <p:nvGraphicFramePr>
          <p:cNvPr id="61" name="Content Placeholder 60" title="Funding Chart">
            <a:extLst>
              <a:ext uri="{FF2B5EF4-FFF2-40B4-BE49-F238E27FC236}">
                <a16:creationId xmlns:a16="http://schemas.microsoft.com/office/drawing/2014/main" id="{D78C801B-5A42-4B88-AF2C-A3C45CD69E2E}"/>
              </a:ext>
            </a:extLst>
          </p:cNvPr>
          <p:cNvGraphicFramePr>
            <a:graphicFrameLocks noGrp="1"/>
          </p:cNvGraphicFramePr>
          <p:nvPr>
            <p:ph sz="quarter" idx="24"/>
            <p:extLst>
              <p:ext uri="{D42A27DB-BD31-4B8C-83A1-F6EECF244321}">
                <p14:modId xmlns:p14="http://schemas.microsoft.com/office/powerpoint/2010/main" val="2617539870"/>
              </p:ext>
            </p:extLst>
          </p:nvPr>
        </p:nvGraphicFramePr>
        <p:xfrm>
          <a:off x="9259888" y="2370138"/>
          <a:ext cx="1857375" cy="16652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70E657A-85D8-48A8-B017-274F0C32C5C9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9023074" y="3788457"/>
            <a:ext cx="2330726" cy="804859"/>
          </a:xfrm>
        </p:spPr>
        <p:txBody>
          <a:bodyPr/>
          <a:lstStyle/>
          <a:p>
            <a:r>
              <a:rPr lang="en-US" dirty="0"/>
              <a:t>$32,000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25753CB-8973-4FAE-BB5D-5CC96CE338D4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9023074" y="4464454"/>
            <a:ext cx="2330726" cy="438505"/>
          </a:xfrm>
        </p:spPr>
        <p:txBody>
          <a:bodyPr/>
          <a:lstStyle/>
          <a:p>
            <a:r>
              <a:rPr lang="en-US" dirty="0"/>
              <a:t>CASH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9F9DEC9-77BC-482D-ACFB-0F2B6DC65F9F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/>
          <a:lstStyle/>
          <a:p>
            <a:r>
              <a:rPr lang="en-US" noProof="1"/>
              <a:t>Liquid cash we have on hand</a:t>
            </a:r>
          </a:p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63C171-5812-4E79-804A-ED04E1BD31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D8A4DC-ECAA-4D59-BE12-EBEDDE9E2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FC0B64-8F13-426F-B6C5-9C9427ACA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824853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180624 Minimalist light sales pitch_Win32_v3" id="{10980D2D-A96C-4E9B-A00E-81C4CAF0ABBD}" vid="{7928933E-F394-4192-9CD9-6D2A259AB5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</TotalTime>
  <Words>931</Words>
  <Application>Microsoft Office PowerPoint</Application>
  <PresentationFormat>Widescreen</PresentationFormat>
  <Paragraphs>313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Adobe Thai</vt:lpstr>
      <vt:lpstr>Arial</vt:lpstr>
      <vt:lpstr>Calibri</vt:lpstr>
      <vt:lpstr>Tenorite</vt:lpstr>
      <vt:lpstr>Wingdings</vt:lpstr>
      <vt:lpstr>Monoline</vt:lpstr>
      <vt:lpstr>PREDICTING SURFACE ROUGHNESS IN LATHE OPERATIONS (Regression)</vt:lpstr>
      <vt:lpstr>Problem statement</vt:lpstr>
      <vt:lpstr>Dataset features</vt:lpstr>
      <vt:lpstr>algorithms</vt:lpstr>
      <vt:lpstr>PowerPoint Presentation</vt:lpstr>
      <vt:lpstr>PRODUCT OVERVIEW</vt:lpstr>
      <vt:lpstr>Problem statement</vt:lpstr>
      <vt:lpstr>PRODUCT BENEFITS</vt:lpstr>
      <vt:lpstr>COMPANY OVERVIEW</vt:lpstr>
      <vt:lpstr>BUSINESS MODEL</vt:lpstr>
      <vt:lpstr>MARKET OVERVIEW</vt:lpstr>
      <vt:lpstr>Market comparison</vt:lpstr>
      <vt:lpstr>OUR COMPETITION</vt:lpstr>
      <vt:lpstr>Our competition  </vt:lpstr>
      <vt:lpstr>Growth strategy</vt:lpstr>
      <vt:lpstr>TRACTION</vt:lpstr>
      <vt:lpstr>TWO-YEAR ACTION PLAN</vt:lpstr>
      <vt:lpstr>FINANCIALS</vt:lpstr>
      <vt:lpstr>MEET THE TEAM</vt:lpstr>
      <vt:lpstr>MEET THE TEAM  </vt:lpstr>
      <vt:lpstr>FUNDING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Vishnupriya M</dc:creator>
  <cp:lastModifiedBy>Vishnupriya M</cp:lastModifiedBy>
  <cp:revision>1</cp:revision>
  <dcterms:created xsi:type="dcterms:W3CDTF">2025-04-29T17:10:39Z</dcterms:created>
  <dcterms:modified xsi:type="dcterms:W3CDTF">2025-04-29T18:18:08Z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